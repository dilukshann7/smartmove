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22ab52ccdd4195" /><Relationship Type="http://schemas.openxmlformats.org/officeDocument/2006/relationships/extended-properties" Target="/docProps/app.xml" Id="R55fb071c85a4429d" /><Relationship Type="http://schemas.openxmlformats.org/officeDocument/2006/relationships/officeDocument" Target="/ppt/presentation.xml" Id="Rde926f22793c400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fed12df60c24086"/>
  </p:sldMasterIdLst>
  <p:notesMasterIdLst>
    <p:notesMasterId xmlns:r="http://schemas.openxmlformats.org/officeDocument/2006/relationships" r:id="Rb10b1d76f9d74f57"/>
  </p:notesMasterIdLst>
  <p:sldIdLst>
    <p:sldId xmlns:r="http://schemas.openxmlformats.org/officeDocument/2006/relationships" id="256" r:id="R95b5ba8ade924d0f"/>
    <p:sldId xmlns:r="http://schemas.openxmlformats.org/officeDocument/2006/relationships" id="257" r:id="Rc530fa57f8ed4456"/>
    <p:sldId xmlns:r="http://schemas.openxmlformats.org/officeDocument/2006/relationships" id="258" r:id="Rd05f8cf14a454ca1"/>
    <p:sldId xmlns:r="http://schemas.openxmlformats.org/officeDocument/2006/relationships" id="259" r:id="R65aa7b92765c4eff"/>
    <p:sldId xmlns:r="http://schemas.openxmlformats.org/officeDocument/2006/relationships" id="260" r:id="R22b333aa93534d17"/>
    <p:sldId xmlns:r="http://schemas.openxmlformats.org/officeDocument/2006/relationships" id="261" r:id="R2de792070a004743"/>
    <p:sldId xmlns:r="http://schemas.openxmlformats.org/officeDocument/2006/relationships" id="262" r:id="R17820b19c2bd458c"/>
    <p:sldId xmlns:r="http://schemas.openxmlformats.org/officeDocument/2006/relationships" id="263" r:id="R32b49fb6bf5642de"/>
    <p:sldId xmlns:r="http://schemas.openxmlformats.org/officeDocument/2006/relationships" id="264" r:id="R74ddb6fdb82241f8"/>
    <p:sldId xmlns:r="http://schemas.openxmlformats.org/officeDocument/2006/relationships" id="265" r:id="Rab2488b957664b05"/>
    <p:sldId xmlns:r="http://schemas.openxmlformats.org/officeDocument/2006/relationships" id="266" r:id="R20216c2c7d394996"/>
    <p:sldId xmlns:r="http://schemas.openxmlformats.org/officeDocument/2006/relationships" id="267" r:id="R7c0a271b1d9f4831"/>
  </p:sldIdLst>
  <p:sldSz cx="18288000" cy="10287000"/>
  <p:notesSz cx="6858000" cy="9144000"/>
  <p:embeddedFontLst>
    <p:embeddedFont>
      <p:font typeface="Archivo"/>
      <p:regular xmlns:r="http://schemas.openxmlformats.org/officeDocument/2006/relationships" r:id="R2e32c3480586471b"/>
      <p:bold xmlns:r="http://schemas.openxmlformats.org/officeDocument/2006/relationships" r:id="R40d1802165d34b9f"/>
    </p:embeddedFont>
    <p:embeddedFont>
      <p:font typeface="Nunito"/>
      <p:regular xmlns:r="http://schemas.openxmlformats.org/officeDocument/2006/relationships" r:id="R4d04815be7214671"/>
      <p:bold xmlns:r="http://schemas.openxmlformats.org/officeDocument/2006/relationships" r:id="R6e65b37e74c1482c"/>
      <p:italic xmlns:r="http://schemas.openxmlformats.org/officeDocument/2006/relationships" r:id="Rb9de54ee3cd54d15"/>
    </p:embeddedFont>
    <p:embeddedFont>
      <p:font typeface="Poppins"/>
      <p:regular xmlns:r="http://schemas.openxmlformats.org/officeDocument/2006/relationships" r:id="Re50f728100da4f61"/>
      <p:bold xmlns:r="http://schemas.openxmlformats.org/officeDocument/2006/relationships" r:id="R9c44fbf3c6ed4828"/>
      <p:italic xmlns:r="http://schemas.openxmlformats.org/officeDocument/2006/relationships" r:id="Ra93b29aef3784503"/>
      <p:boldItalic xmlns:r="http://schemas.openxmlformats.org/officeDocument/2006/relationships" r:id="Rc4422dddbf0b451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4e0ec1082a54875" /><Relationship Type="http://schemas.openxmlformats.org/officeDocument/2006/relationships/slideMaster" Target="/ppt/slideMasters/slideMaster1.xml" Id="Rbfed12df60c24086" /><Relationship Type="http://schemas.openxmlformats.org/officeDocument/2006/relationships/notesMaster" Target="/ppt/notesMasters/notesMaster1.xml" Id="Rb10b1d76f9d74f57" /><Relationship Type="http://schemas.openxmlformats.org/officeDocument/2006/relationships/presProps" Target="/ppt/presProps.xml" Id="Rc9b7be3a77cb4f58" /><Relationship Type="http://schemas.openxmlformats.org/officeDocument/2006/relationships/viewProps" Target="/ppt/viewProps.xml" Id="R8ed87bee6f1b4e8c" /><Relationship Type="http://schemas.openxmlformats.org/officeDocument/2006/relationships/tableStyles" Target="/ppt/tableStyles.xml" Id="R9880db4175a047c0" /><Relationship Type="http://schemas.openxmlformats.org/officeDocument/2006/relationships/font" Target="/ppt/fonts/font.dat" Id="R2e32c3480586471b" /><Relationship Type="http://schemas.openxmlformats.org/officeDocument/2006/relationships/font" Target="/ppt/fonts/font2.dat" Id="R40d1802165d34b9f" /><Relationship Type="http://schemas.openxmlformats.org/officeDocument/2006/relationships/font" Target="/ppt/fonts/font3.dat" Id="R4d04815be7214671" /><Relationship Type="http://schemas.openxmlformats.org/officeDocument/2006/relationships/font" Target="/ppt/fonts/font4.dat" Id="R6e65b37e74c1482c" /><Relationship Type="http://schemas.openxmlformats.org/officeDocument/2006/relationships/font" Target="/ppt/fonts/font5.dat" Id="Rb9de54ee3cd54d15" /><Relationship Type="http://schemas.openxmlformats.org/officeDocument/2006/relationships/font" Target="/ppt/fonts/font6.dat" Id="Re50f728100da4f61" /><Relationship Type="http://schemas.openxmlformats.org/officeDocument/2006/relationships/font" Target="/ppt/fonts/font7.dat" Id="R9c44fbf3c6ed4828" /><Relationship Type="http://schemas.openxmlformats.org/officeDocument/2006/relationships/font" Target="/ppt/fonts/font8.dat" Id="Ra93b29aef3784503" /><Relationship Type="http://schemas.openxmlformats.org/officeDocument/2006/relationships/font" Target="/ppt/fonts/font9.dat" Id="Rc4422dddbf0b4513" /><Relationship Type="http://schemas.openxmlformats.org/officeDocument/2006/relationships/slide" Target="/ppt/slides/slide1.xml" Id="R95b5ba8ade924d0f" /><Relationship Type="http://schemas.openxmlformats.org/officeDocument/2006/relationships/slide" Target="/ppt/slides/slide2.xml" Id="Rc530fa57f8ed4456" /><Relationship Type="http://schemas.openxmlformats.org/officeDocument/2006/relationships/slide" Target="/ppt/slides/slide3.xml" Id="Rd05f8cf14a454ca1" /><Relationship Type="http://schemas.openxmlformats.org/officeDocument/2006/relationships/slide" Target="/ppt/slides/slide4.xml" Id="R65aa7b92765c4eff" /><Relationship Type="http://schemas.openxmlformats.org/officeDocument/2006/relationships/slide" Target="/ppt/slides/slide5.xml" Id="R22b333aa93534d17" /><Relationship Type="http://schemas.openxmlformats.org/officeDocument/2006/relationships/slide" Target="/ppt/slides/slide6.xml" Id="R2de792070a004743" /><Relationship Type="http://schemas.openxmlformats.org/officeDocument/2006/relationships/slide" Target="/ppt/slides/slide7.xml" Id="R17820b19c2bd458c" /><Relationship Type="http://schemas.openxmlformats.org/officeDocument/2006/relationships/slide" Target="/ppt/slides/slide8.xml" Id="R32b49fb6bf5642de" /><Relationship Type="http://schemas.openxmlformats.org/officeDocument/2006/relationships/slide" Target="/ppt/slides/slide9.xml" Id="R74ddb6fdb82241f8" /><Relationship Type="http://schemas.openxmlformats.org/officeDocument/2006/relationships/slide" Target="/ppt/slides/slide10.xml" Id="Rab2488b957664b05" /><Relationship Type="http://schemas.openxmlformats.org/officeDocument/2006/relationships/slide" Target="/ppt/slides/slide11.xml" Id="R20216c2c7d394996" /><Relationship Type="http://schemas.openxmlformats.org/officeDocument/2006/relationships/slide" Target="/ppt/slides/slide12.xml" Id="R7c0a271b1d9f48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6f9ba9084b4c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dd1d65978349bb" /><Relationship Type="http://schemas.openxmlformats.org/officeDocument/2006/relationships/notesMaster" Target="/ppt/notesMasters/notesMaster1.xml" Id="R464cd7fac14640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a77dd5ced945e7" /><Relationship Type="http://schemas.openxmlformats.org/officeDocument/2006/relationships/notesMaster" Target="/ppt/notesMasters/notesMaster1.xml" Id="R91f55171367549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5f7fb4ea674692" /><Relationship Type="http://schemas.openxmlformats.org/officeDocument/2006/relationships/notesMaster" Target="/ppt/notesMasters/notesMaster1.xml" Id="Rab787b76140c4d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93da9128184ad8" /><Relationship Type="http://schemas.openxmlformats.org/officeDocument/2006/relationships/notesMaster" Target="/ppt/notesMasters/notesMaster1.xml" Id="R46032455f85a4e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5554093edd4222" /><Relationship Type="http://schemas.openxmlformats.org/officeDocument/2006/relationships/notesMaster" Target="/ppt/notesMasters/notesMaster1.xml" Id="R7b9076cee7b147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32770826314c10" /><Relationship Type="http://schemas.openxmlformats.org/officeDocument/2006/relationships/notesMaster" Target="/ppt/notesMasters/notesMaster1.xml" Id="R56393eadd54440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34d62d3b864815" /><Relationship Type="http://schemas.openxmlformats.org/officeDocument/2006/relationships/notesMaster" Target="/ppt/notesMasters/notesMaster1.xml" Id="Ra09db04bfd6f4f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3b4a6f2c6d4008" /><Relationship Type="http://schemas.openxmlformats.org/officeDocument/2006/relationships/notesMaster" Target="/ppt/notesMasters/notesMaster1.xml" Id="R7a2e12a02a124d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c1442641d64828" /><Relationship Type="http://schemas.openxmlformats.org/officeDocument/2006/relationships/notesMaster" Target="/ppt/notesMasters/notesMaster1.xml" Id="R89cbd063f41841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87da59acef4f5b" /><Relationship Type="http://schemas.openxmlformats.org/officeDocument/2006/relationships/notesMaster" Target="/ppt/notesMasters/notesMaster1.xml" Id="R7486fc76665046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ab8d3416bf45d6" /><Relationship Type="http://schemas.openxmlformats.org/officeDocument/2006/relationships/notesMaster" Target="/ppt/notesMasters/notesMaster1.xml" Id="R24ba2fa5276b46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127de628af44b1" /><Relationship Type="http://schemas.openxmlformats.org/officeDocument/2006/relationships/notesMaster" Target="/ppt/notesMasters/notesMaster1.xml" Id="R0735170d088449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SmartMove Transport Solutions as the Data Management 2 transport coursework project. Oracle stores transport and bookings; MongoDB holds flexible content. Group members: Dilukshan N (COHNDSE261F-002) and Shaveen G W (COHNDIS261F-017).</a:t>
            </a:r>
          </a:p>
          <a:p xmlns:a="http://schemas.openxmlformats.org/drawingml/2006/main">
            <a:r>
              <a:t/>
            </a:r>
            <a:endParaRPr/>
          </a:p>
          <a:p xmlns:a="http://schemas.openxmlformats.org/drawingml/2006/main">
            <a:r>
              <a:t>Source: C:/Users/Dilukshan/Downloads/DM2 CW -1 (1).docx; student names confirmed by the user.</a:t>
            </a:r>
          </a:p>
          <a:p xmlns:a="http://schemas.openxmlformats.org/drawingml/2006/main">
            <a:r>
              <a:t>Project status: 7 October 2026. The existing-schema upgrade has been applied locally, dedicated demo accounts exist, and 28 future trips cover 8-21 October. Both login roles, signup, admin resources, trip search, multi-seat booking, payment and cancellation/refund checks passed against Oracle using rollback-only test transactions. Browser demonstration remains to be rehearsed; no development server or build was run for these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transport scenario and its nine required operation areas. The application has passenger and ADMIN interfaces. Although the base role constraint also allows STAFF, there is no separate staff workspace.</a:t>
            </a:r>
          </a:p>
          <a:p xmlns:a="http://schemas.openxmlformats.org/drawingml/2006/main">
            <a:endParaRPr/>
          </a:p>
          <a:p xmlns:a="http://schemas.openxmlformats.org/drawingml/2006/main">
            <a:r>
              <a:t>Project sources</a:t>
            </a:r>
          </a:p>
          <a:p xmlns:a="http://schemas.openxmlformats.org/drawingml/2006/main">
            <a:r>
              <a:t>C:/Users/Dilukshan/Downloads/DM2 CW -1 (1).docx</a:t>
            </a:r>
          </a:p>
          <a:p xmlns:a="http://schemas.openxmlformats.org/drawingml/2006/main">
            <a:r>
              <a:t>D:\University\NIBM\HND\DM2\SmartMove\website\README.md</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System purpose and scope</a:t>
            </a:r>
          </a:p>
          <a:p xmlns:a="http://schemas.openxmlformats.org/drawingml/2006/main">
            <a:r>
              <a:t>SmartMove brings passenger reservations and daily transport operations into one application.</a:t>
            </a:r>
          </a:p>
          <a:p xmlns:a="http://schemas.openxmlformats.org/drawingml/2006/main">
            <a:r>
              <a:t>02 / 12</a:t>
            </a:r>
          </a:p>
          <a:p xmlns:a="http://schemas.openxmlformats.org/drawingml/2006/main">
            <a:r>
              <a:t>Passenger services</a:t>
            </a:r>
          </a:p>
          <a:p xmlns:a="http://schemas.openxmlformats.org/drawingml/2006/main">
            <a:r>
              <a:t>Register passengers, search scheduled trips, reserve seats and view tickets. Passengers can cancel bookings before departure and submit eligible feedback.</a:t>
            </a:r>
          </a:p>
          <a:p xmlns:a="http://schemas.openxmlformats.org/drawingml/2006/main">
            <a:r>
              <a:t>Transport administration</a:t>
            </a:r>
          </a:p>
          <a:p xmlns:a="http://schemas.openxmlformats.org/drawingml/2006/main">
            <a:r>
              <a:t>The ADMIN workspace manages operational records, records payments and handles eligible refunds. It also publishes announcements for passengers.</a:t>
            </a:r>
          </a:p>
          <a:p xmlns:a="http://schemas.openxmlformats.org/drawingml/2006/main">
            <a:r>
              <a:t>Operational resources</a:t>
            </a:r>
          </a:p>
          <a:p xmlns:a="http://schemas.openxmlformats.org/drawingml/2006/main">
            <a:r>
              <a:t>Passenger transactions</a:t>
            </a:r>
          </a:p>
          <a:p xmlns:a="http://schemas.openxmlformats.org/drawingml/2006/main">
            <a:r>
              <a:t>Service follow-up</a:t>
            </a:r>
          </a:p>
          <a:p xmlns:a="http://schemas.openxmlformats.org/drawingml/2006/main">
            <a:r>
              <a:t>Vehicle management</a:t>
            </a:r>
          </a:p>
          <a:p xmlns:a="http://schemas.openxmlformats.org/drawingml/2006/main">
            <a:r>
              <a:t>Passenger management</a:t>
            </a:r>
          </a:p>
          <a:p xmlns:a="http://schemas.openxmlformats.org/drawingml/2006/main">
            <a:r>
              <a:t>Payment processing</a:t>
            </a:r>
          </a:p>
          <a:p xmlns:a="http://schemas.openxmlformats.org/drawingml/2006/main">
            <a:r>
              <a:t>Driver management</a:t>
            </a:r>
          </a:p>
          <a:p xmlns:a="http://schemas.openxmlformats.org/drawingml/2006/main">
            <a:r>
              <a:t>Ticket booking</a:t>
            </a:r>
          </a:p>
          <a:p xmlns:a="http://schemas.openxmlformats.org/drawingml/2006/main">
            <a:r>
              <a:t>Maintenance management</a:t>
            </a:r>
          </a:p>
          <a:p xmlns:a="http://schemas.openxmlformats.org/drawingml/2006/main">
            <a:r>
              <a:t>Route management</a:t>
            </a:r>
          </a:p>
          <a:p xmlns:a="http://schemas.openxmlformats.org/drawingml/2006/main">
            <a:r>
              <a:t>Trip scheduling</a:t>
            </a:r>
          </a:p>
          <a:p xmlns:a="http://schemas.openxmlformats.org/drawingml/2006/main">
            <a:r>
              <a:t>Feedback and reviews</a:t>
            </a:r>
          </a:p>
          <a:p xmlns:a="http://schemas.openxmlformats.org/drawingml/2006/main">
            <a:r>
              <a:t>Oracle stores structured records. MongoDB stores flexible content linked to those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inspected source declares Next.js 16 and React 19, with Tailwind and shadcn UI. Server routes use the Node.js runtime. The browser does not receive database credentials. Numeric Oracle IDs become decimal strings in MongoDB documents. Cross-database integration is coordinated in the application and is not a distributed atomic transaction.</a:t>
            </a:r>
          </a:p>
          <a:p xmlns:a="http://schemas.openxmlformats.org/drawingml/2006/main">
            <a:endParaRPr/>
          </a:p>
          <a:p xmlns:a="http://schemas.openxmlformats.org/drawingml/2006/main">
            <a:r>
              <a:t>Project sources</a:t>
            </a:r>
          </a:p>
          <a:p xmlns:a="http://schemas.openxmlformats.org/drawingml/2006/main">
            <a:r>
              <a:t>D:\University\NIBM\HND\DM2\SmartMove\website\package.json</a:t>
            </a:r>
          </a:p>
          <a:p xmlns:a="http://schemas.openxmlformats.org/drawingml/2006/main">
            <a:r>
              <a:t>D:\University\NIBM\HND\DM2\SmartMove\website\lib\server\oracle.ts</a:t>
            </a:r>
          </a:p>
          <a:p xmlns:a="http://schemas.openxmlformats.org/drawingml/2006/main">
            <a:r>
              <a:t>D:\University\NIBM\HND\DM2\SmartMove\website\lib\server\mongo.ts</a:t>
            </a:r>
          </a:p>
          <a:p xmlns:a="http://schemas.openxmlformats.org/drawingml/2006/main">
            <a:r>
              <a:t>D:\University\NIBM\HND\DM2\SmartMove\website\app\api\feedback\route.ts</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Application and database architecture</a:t>
            </a:r>
          </a:p>
          <a:p xmlns:a="http://schemas.openxmlformats.org/drawingml/2006/main">
            <a:r>
              <a:t>The Next.js application coordinates Oracle transactions and MongoDB content.</a:t>
            </a:r>
          </a:p>
          <a:p xmlns:a="http://schemas.openxmlformats.org/drawingml/2006/main">
            <a:r>
              <a:t>03 / 12</a:t>
            </a:r>
          </a:p>
          <a:p xmlns:a="http://schemas.openxmlformats.org/drawingml/2006/main">
            <a:r>
              <a:t>Passenger and ADMIN</a:t>
            </a:r>
          </a:p>
          <a:p xmlns:a="http://schemas.openxmlformats.org/drawingml/2006/main">
            <a:r>
              <a:t>Browser interface</a:t>
            </a:r>
          </a:p>
          <a:p xmlns:a="http://schemas.openxmlformats.org/drawingml/2006/main">
            <a:r>
              <a:t>Next.js server</a:t>
            </a:r>
          </a:p>
          <a:p xmlns:a="http://schemas.openxmlformats.org/drawingml/2006/main">
            <a:r>
              <a:t>API routes and access checks</a:t>
            </a:r>
          </a:p>
          <a:p xmlns:a="http://schemas.openxmlformats.org/drawingml/2006/main">
            <a:r>
              <a:t>Oracle Database</a:t>
            </a:r>
          </a:p>
          <a:p xmlns:a="http://schemas.openxmlformats.org/drawingml/2006/main">
            <a:r>
              <a:t>PL/SQL and relational records</a:t>
            </a:r>
          </a:p>
          <a:p xmlns:a="http://schemas.openxmlformats.org/drawingml/2006/main">
            <a:r>
              <a:t>MongoDB</a:t>
            </a:r>
          </a:p>
          <a:p xmlns:a="http://schemas.openxmlformats.org/drawingml/2006/main">
            <a:r>
              <a:t>Comments, notices and media links</a:t>
            </a:r>
          </a:p>
          <a:p xmlns:a="http://schemas.openxmlformats.org/drawingml/2006/main">
            <a:r>
              <a:t>Accounts, trips, bookings, tickets,</a:t>
            </a:r>
          </a:p>
          <a:p xmlns:a="http://schemas.openxmlformats.org/drawingml/2006/main">
            <a:r>
              <a:t>payments, refunds and maintenance</a:t>
            </a:r>
          </a:p>
          <a:p xmlns:a="http://schemas.openxmlformats.org/drawingml/2006/main">
            <a:r>
              <a:t>Feedback text and ratings, notifications,</a:t>
            </a:r>
          </a:p>
          <a:p xmlns:a="http://schemas.openxmlformats.org/drawingml/2006/main">
            <a:r>
              <a:t>announcements and asset URLs</a:t>
            </a:r>
          </a:p>
          <a:p xmlns:a="http://schemas.openxmlformats.org/drawingml/2006/main">
            <a:r>
              <a:t>Shared reference example: Oracle feedback_id = 1 and MongoDB feedbackId =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coursework schema has 13 tables. The web layer adds passenger sessions, admin sessions and the notification baseline. The overview keeps all 16 table names. Each relationship is between a referenced parent and a dependent child. app_users to passengers, bookings to payments and payments to refunds permit at most one child because the foreign key is unique. Other relationships allow zero or more children. booking_status_history has no declared primary key. The notification baseline has no foreign key. Source ER diagram and finalized draw.io file contain the detailed attribute model.</a:t>
            </a:r>
          </a:p>
          <a:p xmlns:a="http://schemas.openxmlformats.org/drawingml/2006/main">
            <a:endParaRPr/>
          </a:p>
          <a:p xmlns:a="http://schemas.openxmlformats.org/drawingml/2006/main">
            <a:r>
              <a:t>Project sources</a:t>
            </a:r>
          </a:p>
          <a:p xmlns:a="http://schemas.openxmlformats.org/drawingml/2006/main">
            <a:r>
              <a:t>D:\University\NIBM\HND\DM2\SmartMove\database\database\oracle\02_schema.sql</a:t>
            </a:r>
          </a:p>
          <a:p xmlns:a="http://schemas.openxmlformats.org/drawingml/2006/main">
            <a:r>
              <a:t>D:\University\NIBM\HND\DM2\SmartMove\database\database\oracle\09_web_integration.sql</a:t>
            </a:r>
          </a:p>
          <a:p xmlns:a="http://schemas.openxmlformats.org/drawingml/2006/main">
            <a:r>
              <a:t>D:\University\NIBM\HND\DM2\SmartMove\database\database\oracle\10_passenger_portal.sql</a:t>
            </a:r>
          </a:p>
          <a:p xmlns:a="http://schemas.openxmlformats.org/drawingml/2006/main">
            <a:r>
              <a:t>D:\University\NIBM\HND\DM2\SmartMove\database\database\oracle\11_admin_workspace.sql</a:t>
            </a:r>
          </a:p>
          <a:p xmlns:a="http://schemas.openxmlformats.org/drawingml/2006/main">
            <a:r>
              <a:t>D:\University\NIBM\HND\DM2\SmartMove\website\diagrams\smartmove-final-er.drawio</a:t>
            </a:r>
          </a:p>
          <a:p xmlns:a="http://schemas.openxmlformats.org/drawingml/2006/main">
            <a:r>
              <a:t>D:\University\NIBM\HND\DM2\SmartMove\website\diagrams\smartmove-er-validation.json</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Relational model and ER overview</a:t>
            </a:r>
          </a:p>
          <a:p xmlns:a="http://schemas.openxmlformats.org/drawingml/2006/main">
            <a:r>
              <a:t>16 source tables and 14 foreign keys. This overview shows table names and identifying keys.</a:t>
            </a:r>
          </a:p>
          <a:p xmlns:a="http://schemas.openxmlformats.org/drawingml/2006/main">
            <a:r>
              <a:t>04 / 12</a:t>
            </a:r>
          </a:p>
          <a:p xmlns:a="http://schemas.openxmlformats.org/drawingml/2006/main">
            <a:r>
              <a:t>web_notification_</a:t>
            </a:r>
          </a:p>
          <a:p xmlns:a="http://schemas.openxmlformats.org/drawingml/2006/main">
            <a:r>
              <a:t>baseline</a:t>
            </a:r>
          </a:p>
          <a:p xmlns:a="http://schemas.openxmlformats.org/drawingml/2006/main">
            <a:r>
              <a:t>PK baseline_id</a:t>
            </a:r>
          </a:p>
          <a:p xmlns:a="http://schemas.openxmlformats.org/drawingml/2006/main">
            <a:r>
              <a:t>routes</a:t>
            </a:r>
          </a:p>
          <a:p xmlns:a="http://schemas.openxmlformats.org/drawingml/2006/main">
            <a:r>
              <a:t>PK route_id</a:t>
            </a:r>
          </a:p>
          <a:p xmlns:a="http://schemas.openxmlformats.org/drawingml/2006/main">
            <a:r>
              <a:t>vehicles</a:t>
            </a:r>
          </a:p>
          <a:p xmlns:a="http://schemas.openxmlformats.org/drawingml/2006/main">
            <a:r>
              <a:t>PK vehicle_id</a:t>
            </a:r>
          </a:p>
          <a:p xmlns:a="http://schemas.openxmlformats.org/drawingml/2006/main">
            <a:r>
              <a:t>drivers</a:t>
            </a:r>
          </a:p>
          <a:p xmlns:a="http://schemas.openxmlformats.org/drawingml/2006/main">
            <a:r>
              <a:t>PK driver_id</a:t>
            </a:r>
          </a:p>
          <a:p xmlns:a="http://schemas.openxmlformats.org/drawingml/2006/main">
            <a:r>
              <a:t>maintenance_</a:t>
            </a:r>
          </a:p>
          <a:p xmlns:a="http://schemas.openxmlformats.org/drawingml/2006/main">
            <a:r>
              <a:t>records</a:t>
            </a:r>
          </a:p>
          <a:p xmlns:a="http://schemas.openxmlformats.org/drawingml/2006/main">
            <a:r>
              <a:t>PK maintenance_id</a:t>
            </a:r>
          </a:p>
          <a:p xmlns:a="http://schemas.openxmlformats.org/drawingml/2006/main">
            <a:r>
              <a:t>web_sessions</a:t>
            </a:r>
          </a:p>
          <a:p xmlns:a="http://schemas.openxmlformats.org/drawingml/2006/main">
            <a:r>
              <a:t>PK session_hash</a:t>
            </a:r>
          </a:p>
          <a:p xmlns:a="http://schemas.openxmlformats.org/drawingml/2006/main">
            <a:r>
              <a:t>trips</a:t>
            </a:r>
          </a:p>
          <a:p xmlns:a="http://schemas.openxmlformats.org/drawingml/2006/main">
            <a:r>
              <a:t>PK trip_id</a:t>
            </a:r>
          </a:p>
          <a:p xmlns:a="http://schemas.openxmlformats.org/drawingml/2006/main">
            <a:r>
              <a:t>app_users</a:t>
            </a:r>
          </a:p>
          <a:p xmlns:a="http://schemas.openxmlformats.org/drawingml/2006/main">
            <a:r>
              <a:t>PK user_id</a:t>
            </a:r>
          </a:p>
          <a:p xmlns:a="http://schemas.openxmlformats.org/drawingml/2006/main">
            <a:r>
              <a:t>passengers</a:t>
            </a:r>
          </a:p>
          <a:p xmlns:a="http://schemas.openxmlformats.org/drawingml/2006/main">
            <a:r>
              <a:t>PK passenger_id</a:t>
            </a:r>
          </a:p>
          <a:p xmlns:a="http://schemas.openxmlformats.org/drawingml/2006/main">
            <a:r>
              <a:t>bookings</a:t>
            </a:r>
          </a:p>
          <a:p xmlns:a="http://schemas.openxmlformats.org/drawingml/2006/main">
            <a:r>
              <a:t>PK booking_id</a:t>
            </a:r>
          </a:p>
          <a:p xmlns:a="http://schemas.openxmlformats.org/drawingml/2006/main">
            <a:r>
              <a:t>payments</a:t>
            </a:r>
          </a:p>
          <a:p xmlns:a="http://schemas.openxmlformats.org/drawingml/2006/main">
            <a:r>
              <a:t>PK payment_id</a:t>
            </a:r>
          </a:p>
          <a:p xmlns:a="http://schemas.openxmlformats.org/drawingml/2006/main">
            <a:r>
              <a:t>refunds</a:t>
            </a:r>
          </a:p>
          <a:p xmlns:a="http://schemas.openxmlformats.org/drawingml/2006/main">
            <a:r>
              <a:t>PK refund_id</a:t>
            </a:r>
          </a:p>
          <a:p xmlns:a="http://schemas.openxmlformats.org/drawingml/2006/main">
            <a:r>
              <a:t>web_admin_</a:t>
            </a:r>
          </a:p>
          <a:p xmlns:a="http://schemas.openxmlformats.org/drawingml/2006/main">
            <a:r>
              <a:t>sessions</a:t>
            </a:r>
          </a:p>
          <a:p xmlns:a="http://schemas.openxmlformats.org/drawingml/2006/main">
            <a:r>
              <a:t>PK session_hash</a:t>
            </a:r>
          </a:p>
          <a:p xmlns:a="http://schemas.openxmlformats.org/drawingml/2006/main">
            <a:r>
              <a:t>booking_status_</a:t>
            </a:r>
          </a:p>
          <a:p xmlns:a="http://schemas.openxmlformats.org/drawingml/2006/main">
            <a:r>
              <a:t>history</a:t>
            </a:r>
          </a:p>
          <a:p xmlns:a="http://schemas.openxmlformats.org/drawingml/2006/main">
            <a:r>
              <a:t>No declared PK</a:t>
            </a:r>
          </a:p>
          <a:p xmlns:a="http://schemas.openxmlformats.org/drawingml/2006/main">
            <a:r>
              <a:t>tickets</a:t>
            </a:r>
          </a:p>
          <a:p xmlns:a="http://schemas.openxmlformats.org/drawingml/2006/main">
            <a:r>
              <a:t>PK ticket_id</a:t>
            </a:r>
          </a:p>
          <a:p xmlns:a="http://schemas.openxmlformats.org/drawingml/2006/main">
            <a:r>
              <a:t>feedback_records</a:t>
            </a:r>
          </a:p>
          <a:p xmlns:a="http://schemas.openxmlformats.org/drawingml/2006/main">
            <a:r>
              <a:t>PK feedback_id</a:t>
            </a:r>
          </a:p>
          <a:p xmlns:a="http://schemas.openxmlformats.org/drawingml/2006/main">
            <a:r>
              <a:t>1 : 0..N</a:t>
            </a:r>
          </a:p>
          <a:p xmlns:a="http://schemas.openxmlformats.org/drawingml/2006/main">
            <a:r>
              <a:t>1 : 0..1</a:t>
            </a:r>
          </a:p>
          <a:p xmlns:a="http://schemas.openxmlformats.org/drawingml/2006/main">
            <a:r>
              <a:t>1 : 0..N</a:t>
            </a:r>
          </a:p>
          <a:p xmlns:a="http://schemas.openxmlformats.org/drawingml/2006/main">
            <a:r>
              <a:t>1 : 0..N</a:t>
            </a:r>
          </a:p>
          <a:p xmlns:a="http://schemas.openxmlformats.org/drawingml/2006/main">
            <a:r>
              <a:t>1 : 0..N</a:t>
            </a:r>
          </a:p>
          <a:p xmlns:a="http://schemas.openxmlformats.org/drawingml/2006/main">
            <a:r>
              <a:t>1 : 0..N</a:t>
            </a:r>
          </a:p>
          <a:p xmlns:a="http://schemas.openxmlformats.org/drawingml/2006/main">
            <a:r>
              <a:t>1 : 0..N</a:t>
            </a:r>
          </a:p>
          <a:p xmlns:a="http://schemas.openxmlformats.org/drawingml/2006/main">
            <a:r>
              <a:t>1 : 0..N</a:t>
            </a:r>
          </a:p>
          <a:p xmlns:a="http://schemas.openxmlformats.org/drawingml/2006/main">
            <a:r>
              <a:t>1 : 0..N</a:t>
            </a:r>
          </a:p>
          <a:p xmlns:a="http://schemas.openxmlformats.org/drawingml/2006/main">
            <a:r>
              <a:t>1 : 0..1</a:t>
            </a:r>
          </a:p>
          <a:p xmlns:a="http://schemas.openxmlformats.org/drawingml/2006/main">
            <a:r>
              <a:t>1 : 0..1</a:t>
            </a:r>
          </a:p>
          <a:p xmlns:a="http://schemas.openxmlformats.org/drawingml/2006/main">
            <a:r>
              <a:t>1 : 0..N</a:t>
            </a:r>
          </a:p>
          <a:p xmlns:a="http://schemas.openxmlformats.org/drawingml/2006/main">
            <a:r>
              <a:t>1 : 0..N</a:t>
            </a:r>
          </a:p>
          <a:p xmlns:a="http://schemas.openxmlformats.org/drawingml/2006/main">
            <a:r>
              <a:t>1 : 0..N</a:t>
            </a:r>
          </a:p>
          <a:p xmlns:a="http://schemas.openxmlformats.org/drawingml/2006/main">
            <a:r>
              <a:t>PK = primary key. Relationship labels show one parent and the permitted number of child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Entity separation reduces repeated passenger, route, vehicle and payment data. Primary and foreign keys connect the records. CHECK and UNIQUE constraints protect values and references. The named code examples are actual routines in the project. Table constraints and raised PL/SQL errors allow the application to reject invalid requests and roll back. The source uses simple standalone routines, not PL/SQL packages.</a:t>
            </a:r>
          </a:p>
          <a:p xmlns:a="http://schemas.openxmlformats.org/drawingml/2006/main">
            <a:endParaRPr/>
          </a:p>
          <a:p xmlns:a="http://schemas.openxmlformats.org/drawingml/2006/main">
            <a:r>
              <a:t>Project sources</a:t>
            </a:r>
          </a:p>
          <a:p xmlns:a="http://schemas.openxmlformats.org/drawingml/2006/main">
            <a:r>
              <a:t>D:\University\NIBM\HND\DM2\SmartMove\database\database\oracle\02_schema.sql</a:t>
            </a:r>
          </a:p>
          <a:p xmlns:a="http://schemas.openxmlformats.org/drawingml/2006/main">
            <a:r>
              <a:t>D:\University\NIBM\HND\DM2\SmartMove\database\database\oracle\03_business_logic.sql</a:t>
            </a:r>
          </a:p>
          <a:p xmlns:a="http://schemas.openxmlformats.org/drawingml/2006/main">
            <a:r>
              <a:t>D:\University\NIBM\HND\DM2\SmartMove\database\database\oracle\03_management_operations.sql</a:t>
            </a:r>
          </a:p>
          <a:p xmlns:a="http://schemas.openxmlformats.org/drawingml/2006/main">
            <a:r>
              <a:t>D:\University\NIBM\HND\DM2\SmartMove\database\database\oracle\03_trip_operations.sql</a:t>
            </a:r>
          </a:p>
          <a:p xmlns:a="http://schemas.openxmlformats.org/drawingml/2006/main">
            <a:r>
              <a:t>D:\University\NIBM\HND\DM2\SmartMove\database\database\oracle\04_reports.sql</a:t>
            </a:r>
          </a:p>
          <a:p xmlns:a="http://schemas.openxmlformats.org/drawingml/2006/main">
            <a:r>
              <a:t>D:\University\NIBM\HND\DM2\SmartMove\database\database\oracle\web_operations.sql</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Oracle integrity and PL/SQL implementation</a:t>
            </a:r>
          </a:p>
          <a:p xmlns:a="http://schemas.openxmlformats.org/drawingml/2006/main">
            <a:r>
              <a:t>The schema uses constraints, while standalone routines implement operational rules.</a:t>
            </a:r>
          </a:p>
          <a:p xmlns:a="http://schemas.openxmlformats.org/drawingml/2006/main">
            <a:r>
              <a:t>05 / 12</a:t>
            </a:r>
          </a:p>
          <a:p xmlns:a="http://schemas.openxmlformats.org/drawingml/2006/main">
            <a:r>
              <a:t>Keys and relationships</a:t>
            </a:r>
          </a:p>
          <a:p xmlns:a="http://schemas.openxmlformats.org/drawingml/2006/main">
            <a:r>
              <a:t>Primary keys identify rows. Foreign keys connect trips to resources and bookings to passengers. UNIQUE constraints limit each booking to one payment and each payment to one refund.</a:t>
            </a:r>
          </a:p>
          <a:p xmlns:a="http://schemas.openxmlformats.org/drawingml/2006/main">
            <a:r>
              <a:t>Value and lifecycle checks</a:t>
            </a:r>
          </a:p>
          <a:p xmlns:a="http://schemas.openxmlformats.org/drawingml/2006/main">
            <a:r>
              <a:t>The schema requires positive fares and seat counts, arrival after departure, and permitted status values. The booking history trigger records each status change.</a:t>
            </a:r>
          </a:p>
          <a:p xmlns:a="http://schemas.openxmlformats.org/drawingml/2006/main">
            <a:r>
              <a:t>PL/SQL construct</a:t>
            </a:r>
          </a:p>
          <a:p xmlns:a="http://schemas.openxmlformats.org/drawingml/2006/main">
            <a:r>
              <a:t>Project example</a:t>
            </a:r>
          </a:p>
          <a:p xmlns:a="http://schemas.openxmlformats.org/drawingml/2006/main">
            <a:r>
              <a:t>Procedures</a:t>
            </a:r>
          </a:p>
          <a:p xmlns:a="http://schemas.openxmlformats.org/drawingml/2006/main">
            <a:r>
              <a:t>schedule_trip, reserve_seat,</a:t>
            </a:r>
          </a:p>
          <a:p xmlns:a="http://schemas.openxmlformats.org/drawingml/2006/main">
            <a:r>
              <a:t>record_payment, process_refund</a:t>
            </a:r>
          </a:p>
          <a:p xmlns:a="http://schemas.openxmlformats.org/drawingml/2006/main">
            <a:r>
              <a:t>Function</a:t>
            </a:r>
          </a:p>
          <a:p xmlns:a="http://schemas.openxmlformats.org/drawingml/2006/main">
            <a:r>
              <a:t>available_seats returns</a:t>
            </a:r>
          </a:p>
          <a:p xmlns:a="http://schemas.openxmlformats.org/drawingml/2006/main">
            <a:r>
              <a:t>remaining capacity</a:t>
            </a:r>
          </a:p>
          <a:p xmlns:a="http://schemas.openxmlformats.org/drawingml/2006/main">
            <a:r>
              <a:t>Cursors</a:t>
            </a:r>
          </a:p>
          <a:p xmlns:a="http://schemas.openxmlformats.org/drawingml/2006/main">
            <a:r>
              <a:t>popular_routes and</a:t>
            </a:r>
          </a:p>
          <a:p xmlns:a="http://schemas.openxmlformats.org/drawingml/2006/main">
            <a:r>
              <a:t>passenger_history loop over results</a:t>
            </a:r>
          </a:p>
          <a:p xmlns:a="http://schemas.openxmlformats.org/drawingml/2006/main">
            <a:r>
              <a:t>Trigger</a:t>
            </a:r>
          </a:p>
          <a:p xmlns:a="http://schemas.openxmlformats.org/drawingml/2006/main">
            <a:r>
              <a:t>trg_booking_status_history</a:t>
            </a:r>
          </a:p>
          <a:p xmlns:a="http://schemas.openxmlformats.org/drawingml/2006/main">
            <a:r>
              <a:t>logs booking status changes</a:t>
            </a:r>
          </a:p>
          <a:p xmlns:a="http://schemas.openxmlformats.org/drawingml/2006/main">
            <a:r>
              <a:t>Exceptions</a:t>
            </a:r>
          </a:p>
          <a:p xmlns:a="http://schemas.openxmlformats.org/drawingml/2006/main">
            <a:r>
              <a:t>NO_DATA_FOUND and</a:t>
            </a:r>
          </a:p>
          <a:p xmlns:a="http://schemas.openxmlformats.org/drawingml/2006/main">
            <a:r>
              <a:t>RAISE_APPLICATION_ERROR</a:t>
            </a:r>
          </a:p>
          <a:p xmlns:a="http://schemas.openxmlformats.org/drawingml/2006/main">
            <a:r>
              <a:t>The application owns COMMIT and ROLLBACK for each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creates a PENDING booking and reserves every selected seat in one Oracle transaction. Pending holds last 30 minutes. Payment requires the exact total and an eligible future trip. record_payment issues the tickets and confirms the booking. Queries exclude expired holds and show expired bookings as cancelled without a scheduler rewriting stored status. Passenger cancellation before departure cancels every seat and records one full refund for a confirmed paid booking. No external payment gateway or automated payout is implemented.</a:t>
            </a:r>
          </a:p>
          <a:p xmlns:a="http://schemas.openxmlformats.org/drawingml/2006/main">
            <a:endParaRPr/>
          </a:p>
          <a:p xmlns:a="http://schemas.openxmlformats.org/drawingml/2006/main">
            <a:r>
              <a:t>Project sources</a:t>
            </a:r>
          </a:p>
          <a:p xmlns:a="http://schemas.openxmlformats.org/drawingml/2006/main">
            <a:r>
              <a:t>D:\University\NIBM\HND\DM2\SmartMove\database\database\oracle\web_operations.sql</a:t>
            </a:r>
          </a:p>
          <a:p xmlns:a="http://schemas.openxmlformats.org/drawingml/2006/main">
            <a:r>
              <a:t>D:\University\NIBM\HND\DM2\SmartMove\database\database\oracle\03_business_logic.sql</a:t>
            </a:r>
          </a:p>
          <a:p xmlns:a="http://schemas.openxmlformats.org/drawingml/2006/main">
            <a:r>
              <a:t>D:\University\NIBM\HND\DM2\SmartMove\website\app\api\bookings\route.ts</a:t>
            </a:r>
          </a:p>
          <a:p xmlns:a="http://schemas.openxmlformats.org/drawingml/2006/main">
            <a:r>
              <a:t>D:\University\NIBM\HND\DM2\SmartMove\website\lib\server\booking-actions.ts</a:t>
            </a:r>
          </a:p>
          <a:p xmlns:a="http://schemas.openxmlformats.org/drawingml/2006/main">
            <a:r>
              <a:t>D:\University\NIBM\HND\DM2\SmartMove\website\lib\server\admin-mutations.ts</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Booking, payment and cancellation lifecycle</a:t>
            </a:r>
          </a:p>
          <a:p xmlns:a="http://schemas.openxmlformats.org/drawingml/2006/main">
            <a:r>
              <a:t>A reservation becomes a confirmed booking only after the full payment is recorded.</a:t>
            </a:r>
          </a:p>
          <a:p xmlns:a="http://schemas.openxmlformats.org/drawingml/2006/main">
            <a:r>
              <a:t>06 / 12</a:t>
            </a:r>
          </a:p>
          <a:p xmlns:a="http://schemas.openxmlformats.org/drawingml/2006/main">
            <a:r>
              <a:t>PENDING</a:t>
            </a:r>
          </a:p>
          <a:p xmlns:a="http://schemas.openxmlformats.org/drawingml/2006/main">
            <a:r>
              <a:t>Selected seats are RESERVED</a:t>
            </a:r>
          </a:p>
          <a:p xmlns:a="http://schemas.openxmlformats.org/drawingml/2006/main">
            <a:r>
              <a:t>CONFIRMED</a:t>
            </a:r>
          </a:p>
          <a:p xmlns:a="http://schemas.openxmlformats.org/drawingml/2006/main">
            <a:r>
              <a:t>Full payment issues the tickets</a:t>
            </a:r>
          </a:p>
          <a:p xmlns:a="http://schemas.openxmlformats.org/drawingml/2006/main">
            <a:r>
              <a:t>CANCELLED</a:t>
            </a:r>
          </a:p>
          <a:p xmlns:a="http://schemas.openxmlformats.org/drawingml/2006/main">
            <a:r>
              <a:t>Cancellation releases every seat</a:t>
            </a:r>
          </a:p>
          <a:p xmlns:a="http://schemas.openxmlformats.org/drawingml/2006/main">
            <a:r>
              <a:t>Payment</a:t>
            </a:r>
          </a:p>
          <a:p xmlns:a="http://schemas.openxmlformats.org/drawingml/2006/main">
            <a:r>
              <a:t>Cancel</a:t>
            </a:r>
          </a:p>
          <a:p xmlns:a="http://schemas.openxmlformats.org/drawingml/2006/main">
            <a:r>
              <a:t>Reservation protection</a:t>
            </a:r>
          </a:p>
          <a:p xmlns:a="http://schemas.openxmlformats.org/drawingml/2006/main">
            <a:r>
              <a:t>Seat checks include vehicle capacity, duplicate reservations, the trip departure time and a 30-minute hold limit. Short row locks serialize competing operations.</a:t>
            </a:r>
          </a:p>
          <a:p xmlns:a="http://schemas.openxmlformats.org/drawingml/2006/main">
            <a:r>
              <a:t>Payment rules</a:t>
            </a:r>
          </a:p>
          <a:p xmlns:a="http://schemas.openxmlformats.org/drawingml/2006/main">
            <a:r>
              <a:t>The ADMIN records CASH, CARD or BANK_TRANSFER. The amount must match the reserved ticket total. The website has no connected online payment gateway.</a:t>
            </a:r>
          </a:p>
          <a:p xmlns:a="http://schemas.openxmlformats.org/drawingml/2006/main">
            <a:r>
              <a:t>Refund and expiry rules</a:t>
            </a:r>
          </a:p>
          <a:p xmlns:a="http://schemas.openxmlformats.org/drawingml/2006/main">
            <a:r>
              <a:t>Paid cancellation records one full refund. Actual payouts occur outside SmartMove. Expired holds stop blocking availability without a background status-update job.</a:t>
            </a:r>
          </a:p>
          <a:p xmlns:a="http://schemas.openxmlformats.org/drawingml/2006/main">
            <a:r>
              <a:t>All selected seats are committed together. A failed Oracle operation rolls back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implemented source routes without implying a fresh browser or device test. Passengers use signup, login, trip search, seat selection, bookings, tickets, profile, notifications and feedback. ADMIN has a single workspace for transport and finance operations. STAFF has no dedicated screens. Feedback replies can be displayed but there is no staff reply interface. Reports are database procedures rather than separate report pages.</a:t>
            </a:r>
          </a:p>
          <a:p xmlns:a="http://schemas.openxmlformats.org/drawingml/2006/main">
            <a:endParaRPr/>
          </a:p>
          <a:p xmlns:a="http://schemas.openxmlformats.org/drawingml/2006/main">
            <a:r>
              <a:t>Project sources</a:t>
            </a:r>
          </a:p>
          <a:p xmlns:a="http://schemas.openxmlformats.org/drawingml/2006/main">
            <a:r>
              <a:t>D:\University\NIBM\HND\DM2\SmartMove\website\README.md</a:t>
            </a:r>
          </a:p>
          <a:p xmlns:a="http://schemas.openxmlformats.org/drawingml/2006/main">
            <a:r>
              <a:t>D:\University\NIBM\HND\DM2\SmartMove\website\components\trips\trip-details-page.tsx</a:t>
            </a:r>
          </a:p>
          <a:p xmlns:a="http://schemas.openxmlformats.org/drawingml/2006/main">
            <a:r>
              <a:t>D:\University\NIBM\HND\DM2\SmartMove\website\components\dashboard\dashboard-page.tsx</a:t>
            </a:r>
          </a:p>
          <a:p xmlns:a="http://schemas.openxmlformats.org/drawingml/2006/main">
            <a:r>
              <a:t>D:\University\NIBM\HND\DM2\SmartMove\website\components\admin\admin-page.tsx</a:t>
            </a:r>
          </a:p>
          <a:p xmlns:a="http://schemas.openxmlformats.org/drawingml/2006/main">
            <a:r>
              <a:t>D:\University\NIBM\HND\DM2\SmartMove\website\components\feedback\feedback-page.tsx</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Passenger portal and ADMIN workspace</a:t>
            </a:r>
          </a:p>
          <a:p xmlns:a="http://schemas.openxmlformats.org/drawingml/2006/main">
            <a:r>
              <a:t>The current application source provides separate interfaces for passengers and administrators.</a:t>
            </a:r>
          </a:p>
          <a:p xmlns:a="http://schemas.openxmlformats.org/drawingml/2006/main">
            <a:r>
              <a:t>07 / 12</a:t>
            </a:r>
          </a:p>
          <a:p xmlns:a="http://schemas.openxmlformats.org/drawingml/2006/main">
            <a:r>
              <a:t>Passenger journey</a:t>
            </a:r>
          </a:p>
          <a:p xmlns:a="http://schemas.openxmlformats.org/drawingml/2006/main">
            <a:r>
              <a:t>Search trips</a:t>
            </a:r>
          </a:p>
          <a:p xmlns:a="http://schemas.openxmlformats.org/drawingml/2006/main">
            <a:r>
              <a:t>Origin, destination and date</a:t>
            </a:r>
          </a:p>
          <a:p xmlns:a="http://schemas.openxmlformats.org/drawingml/2006/main">
            <a:r>
              <a:t>Reserve seats</a:t>
            </a:r>
          </a:p>
          <a:p xmlns:a="http://schemas.openxmlformats.org/drawingml/2006/main">
            <a:r>
              <a:t>Availability and fare summary</a:t>
            </a:r>
          </a:p>
          <a:p xmlns:a="http://schemas.openxmlformats.org/drawingml/2006/main">
            <a:r>
              <a:t>View bookings</a:t>
            </a:r>
          </a:p>
          <a:p xmlns:a="http://schemas.openxmlformats.org/drawingml/2006/main">
            <a:r>
              <a:t>Tickets, cancellation and refunds</a:t>
            </a:r>
          </a:p>
          <a:p xmlns:a="http://schemas.openxmlformats.org/drawingml/2006/main">
            <a:r>
              <a:t>Travel follow-up</a:t>
            </a:r>
          </a:p>
          <a:p xmlns:a="http://schemas.openxmlformats.org/drawingml/2006/main">
            <a:r>
              <a:t>Reviews and notifications</a:t>
            </a:r>
          </a:p>
          <a:p xmlns:a="http://schemas.openxmlformats.org/drawingml/2006/main">
            <a:r>
              <a:t>ADMIN responsibilities</a:t>
            </a:r>
          </a:p>
          <a:p xmlns:a="http://schemas.openxmlformats.org/drawingml/2006/main">
            <a:r>
              <a:t>Routes, vehicles, drivers and trip scheduling</a:t>
            </a:r>
          </a:p>
          <a:p xmlns:a="http://schemas.openxmlformats.org/drawingml/2006/main">
            <a:r>
              <a:t>Passenger records and maintenance</a:t>
            </a:r>
          </a:p>
          <a:p xmlns:a="http://schemas.openxmlformats.org/drawingml/2006/main">
            <a:r>
              <a:t>Booking monitoring, payments and refunds</a:t>
            </a:r>
          </a:p>
          <a:p xmlns:a="http://schemas.openxmlformats.org/drawingml/2006/main">
            <a:r>
              <a:t>MongoDB announcements and notices</a:t>
            </a:r>
          </a:p>
          <a:p xmlns:a="http://schemas.openxmlformats.org/drawingml/2006/main">
            <a:r>
              <a:t>Current interface boundaries</a:t>
            </a:r>
          </a:p>
          <a:p xmlns:a="http://schemas.openxmlformats.org/drawingml/2006/main">
            <a:r>
              <a:t>One ADMIN workspace and a passenger portal</a:t>
            </a:r>
          </a:p>
          <a:p xmlns:a="http://schemas.openxmlformats.org/drawingml/2006/main">
            <a:r>
              <a:t>Feedback is read-only for administrators</a:t>
            </a:r>
          </a:p>
          <a:p xmlns:a="http://schemas.openxmlformats.org/drawingml/2006/main">
            <a:r>
              <a:t>Database reports have no standalone UI pages</a:t>
            </a:r>
          </a:p>
          <a:p xmlns:a="http://schemas.openxmlformats.org/drawingml/2006/main">
            <a:r>
              <a:t>Notifications refresh when the inbox opens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revenue routine currently totals all payment and refund records. It has no date-range parameters, although the coursework gives period revenue as an example. These chart values are expected results derived from the fictional sample script, not a query of the current database: 500 + 1600 + 800 = LKR 2900 in payments, LKR 800 refund, and LKR 2100 net revenue. The sample leaves one issued ticket on the Kandy route and two on the Galle route. Trip 2 occupancy is 2 of 8 seats. The chart is native and includes its literal source values.</a:t>
            </a:r>
          </a:p>
          <a:p xmlns:a="http://schemas.openxmlformats.org/drawingml/2006/main">
            <a:endParaRPr/>
          </a:p>
          <a:p xmlns:a="http://schemas.openxmlformats.org/drawingml/2006/main">
            <a:r>
              <a:t>Project sources</a:t>
            </a:r>
          </a:p>
          <a:p xmlns:a="http://schemas.openxmlformats.org/drawingml/2006/main">
            <a:r>
              <a:t>D:\University\NIBM\HND\DM2\SmartMove\database\database\oracle\04_reports.sql</a:t>
            </a:r>
          </a:p>
          <a:p xmlns:a="http://schemas.openxmlformats.org/drawingml/2006/main">
            <a:r>
              <a:t>D:\University\NIBM\HND\DM2\SmartMove\database\database\oracle\05_sample_data.sql</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Five PL/SQL business reports</a:t>
            </a:r>
          </a:p>
          <a:p xmlns:a="http://schemas.openxmlformats.org/drawingml/2006/main">
            <a:r>
              <a:t>Each report answers an operational question using Oracle joins, totals or cursor loops.</a:t>
            </a:r>
          </a:p>
          <a:p xmlns:a="http://schemas.openxmlformats.org/drawingml/2006/main">
            <a:r>
              <a:t>08 / 12</a:t>
            </a:r>
          </a:p>
          <a:p xmlns:a="http://schemas.openxmlformats.org/drawingml/2006/main">
            <a:r>
              <a:t>Report</a:t>
            </a:r>
          </a:p>
          <a:p xmlns:a="http://schemas.openxmlformats.org/drawingml/2006/main">
            <a:r>
              <a:t>What the routine returns</a:t>
            </a:r>
          </a:p>
          <a:p xmlns:a="http://schemas.openxmlformats.org/drawingml/2006/main">
            <a:r>
              <a:t>popular_routes</a:t>
            </a:r>
          </a:p>
          <a:p xmlns:a="http://schemas.openxmlformats.org/drawingml/2006/main">
            <a:r>
              <a:t>Issued-ticket counts grouped</a:t>
            </a:r>
          </a:p>
          <a:p xmlns:a="http://schemas.openxmlformats.org/drawingml/2006/main">
            <a:r>
              <a:t>by route, in descending order</a:t>
            </a:r>
          </a:p>
          <a:p xmlns:a="http://schemas.openxmlformats.org/drawingml/2006/main">
            <a:r>
              <a:t>revenue</a:t>
            </a:r>
          </a:p>
          <a:p xmlns:a="http://schemas.openxmlformats.org/drawingml/2006/main">
            <a:r>
              <a:t>Total payments, refunds</a:t>
            </a:r>
          </a:p>
          <a:p xmlns:a="http://schemas.openxmlformats.org/drawingml/2006/main">
            <a:r>
              <a:t>and net revenue across all records</a:t>
            </a:r>
          </a:p>
          <a:p xmlns:a="http://schemas.openxmlformats.org/drawingml/2006/main">
            <a:r>
              <a:t>passenger_history</a:t>
            </a:r>
          </a:p>
          <a:p xmlns:a="http://schemas.openxmlformats.org/drawingml/2006/main">
            <a:r>
              <a:t>Booking, route, seat</a:t>
            </a:r>
          </a:p>
          <a:p xmlns:a="http://schemas.openxmlformats.org/drawingml/2006/main">
            <a:r>
              <a:t>and status for one passenger</a:t>
            </a:r>
          </a:p>
          <a:p xmlns:a="http://schemas.openxmlformats.org/drawingml/2006/main">
            <a:r>
              <a:t>maintenance_due</a:t>
            </a:r>
          </a:p>
          <a:p xmlns:a="http://schemas.openxmlformats.org/drawingml/2006/main">
            <a:r>
              <a:t>Scheduled maintenance due</a:t>
            </a:r>
          </a:p>
          <a:p xmlns:a="http://schemas.openxmlformats.org/drawingml/2006/main">
            <a:r>
              <a:t>on or before the supplied date</a:t>
            </a:r>
          </a:p>
          <a:p xmlns:a="http://schemas.openxmlformats.org/drawingml/2006/main">
            <a:r>
              <a:t>trip_occupancy</a:t>
            </a:r>
          </a:p>
          <a:p xmlns:a="http://schemas.openxmlformats.org/drawingml/2006/main">
            <a:r>
              <a:t>Issued seats as a percentage</a:t>
            </a:r>
          </a:p>
          <a:p xmlns:a="http://schemas.openxmlformats.org/drawingml/2006/main">
            <a:r>
              <a:t>of each vehicle’s seat count</a:t>
            </a:r>
          </a:p>
          <a:p xmlns:a="http://schemas.openxmlformats.org/drawingml/2006/main">
            <a:r>
              <a:t>Fictional sample data</a:t>
            </a:r>
          </a:p>
          <a:p xmlns:a="http://schemas.openxmlformats.org/drawingml/2006/main">
            <a:r>
              <a:t>Payments: LKR 2,900</a:t>
            </a:r>
          </a:p>
          <a:p xmlns:a="http://schemas.openxmlformats.org/drawingml/2006/main">
            <a:r>
              <a:t>Refunds: LKR 800</a:t>
            </a:r>
          </a:p>
          <a:p xmlns:a="http://schemas.openxmlformats.org/drawingml/2006/main">
            <a:r>
              <a:t>Net revenue: LKR 2,100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MongoDB contains feedback_content, notifications, announcements, vehicle_assets and trip_media. Feedback, announcements and notifications are integrated through server APIs. Vehicle/trip demonstration images and a fictional vehicle record PDF are now included as static files in website/public/uploads. Their URLs are linked from MongoDB; this is a static demonstration and there is no media-upload interface. The images are generated illustrations, not photographs documenting a real operator. Shared Oracle IDs are stored as decimal strings in MongoDB. Route-review, rating, tagged-keyword and media-reference demonstration queries ran against the local database.</a:t>
            </a:r>
          </a:p>
          <a:p xmlns:a="http://schemas.openxmlformats.org/drawingml/2006/main">
            <a:r>
              <a:t/>
            </a:r>
            <a:endParaRPr/>
          </a:p>
          <a:p xmlns:a="http://schemas.openxmlformats.org/drawingml/2006/main">
            <a:r>
              <a:t>Sources: database/database/mongodb/setup.js; database/database/mongodb/queries.js; website/public/uploads/README.md; website/lib/server/mongo.ts.</a:t>
            </a:r>
          </a:p>
          <a:p xmlns:a="http://schemas.openxmlformats.org/drawingml/2006/main">
            <a:r>
              <a:t>Project status: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query examples come from queries.js. Ratings use $group and $avg. The current aggregate output is not sorted, so the highest average is identified by comparing the results. Keyword queries match stored keywords, not arbitrary words in comments. Feedback submission first validates the passenger booking in Oracle, inserts MongoDB content, and commits Oracle. On failure before the commit, the API rolls back and attempts MongoDB compensation. Compensation may fail, so the databases do not share one atomic transaction. Reads join the content in the application by feedbackId.</a:t>
            </a:r>
          </a:p>
          <a:p xmlns:a="http://schemas.openxmlformats.org/drawingml/2006/main">
            <a:endParaRPr/>
          </a:p>
          <a:p xmlns:a="http://schemas.openxmlformats.org/drawingml/2006/main">
            <a:r>
              <a:t>Project sources</a:t>
            </a:r>
          </a:p>
          <a:p xmlns:a="http://schemas.openxmlformats.org/drawingml/2006/main">
            <a:r>
              <a:t>D:\University\NIBM\HND\DM2\SmartMove\database\database\mongodb\queries.js</a:t>
            </a:r>
          </a:p>
          <a:p xmlns:a="http://schemas.openxmlformats.org/drawingml/2006/main">
            <a:r>
              <a:t>D:\University\NIBM\HND\DM2\SmartMove\website\app\api\feedback\route.ts</a:t>
            </a:r>
          </a:p>
          <a:p xmlns:a="http://schemas.openxmlformats.org/drawingml/2006/main">
            <a:r>
              <a:t>D:\University\NIBM\HND\DM2\SmartMove\website\lib\server\mongo.ts</a:t>
            </a:r>
          </a:p>
          <a:p xmlns:a="http://schemas.openxmlformats.org/drawingml/2006/main">
            <a:r>
              <a:t>D:\University\NIBM\HND\DM2\SmartMove\website\lib\server\notifications.ts</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MongoDB queries and Oracle integration</a:t>
            </a:r>
          </a:p>
          <a:p xmlns:a="http://schemas.openxmlformats.org/drawingml/2006/main">
            <a:r>
              <a:t>Shared IDs connect flexible content to validated bookings and transport records.</a:t>
            </a:r>
          </a:p>
          <a:p xmlns:a="http://schemas.openxmlformats.org/drawingml/2006/main">
            <a:r>
              <a:t>10 / 12</a:t>
            </a:r>
          </a:p>
          <a:p xmlns:a="http://schemas.openxmlformats.org/drawingml/2006/main">
            <a:r>
              <a:t>Required query</a:t>
            </a:r>
          </a:p>
          <a:p xmlns:a="http://schemas.openxmlformats.org/drawingml/2006/main">
            <a:r>
              <a:t>Project command or method</a:t>
            </a:r>
          </a:p>
          <a:p xmlns:a="http://schemas.openxmlformats.org/drawingml/2006/main">
            <a:r>
              <a:t>Reviews for one route</a:t>
            </a:r>
          </a:p>
          <a:p xmlns:a="http://schemas.openxmlformats.org/drawingml/2006/main">
            <a:r>
              <a:t>find({ routeId: "1" })</a:t>
            </a:r>
          </a:p>
          <a:p xmlns:a="http://schemas.openxmlformats.org/drawingml/2006/main">
            <a:r>
              <a:t>Highest-rated vehicles / drivers</a:t>
            </a:r>
          </a:p>
          <a:p xmlns:a="http://schemas.openxmlformats.org/drawingml/2006/main">
            <a:r>
              <a:t>Compare average ratings from $group and $avg</a:t>
            </a:r>
          </a:p>
          <a:p xmlns:a="http://schemas.openxmlformats.org/drawingml/2006/main">
            <a:r>
              <a:t>for each vehicleId or driverId</a:t>
            </a:r>
          </a:p>
          <a:p xmlns:a="http://schemas.openxmlformats.org/drawingml/2006/main">
            <a:r>
              <a:t>Stored feedback keywords</a:t>
            </a:r>
          </a:p>
          <a:p xmlns:a="http://schemas.openxmlformats.org/drawingml/2006/main">
            <a:r>
              <a:t>find({ keywords: { $in: ["late", "delay"] } })</a:t>
            </a:r>
          </a:p>
          <a:p xmlns:a="http://schemas.openxmlformats.org/drawingml/2006/main">
            <a:r>
              <a:t>Vehicle files and journey media</a:t>
            </a:r>
          </a:p>
          <a:p xmlns:a="http://schemas.openxmlformats.org/drawingml/2006/main">
            <a:r>
              <a:t>vehicle_assets.find({ vehicleId: "1" })</a:t>
            </a:r>
          </a:p>
          <a:p xmlns:a="http://schemas.openxmlformats.org/drawingml/2006/main">
            <a:r>
              <a:t>trip_media.find({ tripId: "1" })</a:t>
            </a:r>
          </a:p>
          <a:p xmlns:a="http://schemas.openxmlformats.org/drawingml/2006/main">
            <a:r>
              <a:t>Feedback submission workflow</a:t>
            </a:r>
          </a:p>
          <a:p xmlns:a="http://schemas.openxmlformats.org/drawingml/2006/main">
            <a:r>
              <a:t>Validate in Oracle</a:t>
            </a:r>
          </a:p>
          <a:p xmlns:a="http://schemas.openxmlformats.org/drawingml/2006/main">
            <a:r>
              <a:t>Owned booking and review eligibility</a:t>
            </a:r>
          </a:p>
          <a:p xmlns:a="http://schemas.openxmlformats.org/drawingml/2006/main">
            <a:r>
              <a:t>Write MongoDB</a:t>
            </a:r>
          </a:p>
          <a:p xmlns:a="http://schemas.openxmlformats.org/drawingml/2006/main">
            <a:r>
              <a:t>Text, ratings and shared feedbackId</a:t>
            </a:r>
          </a:p>
          <a:p xmlns:a="http://schemas.openxmlformats.org/drawingml/2006/main">
            <a:r>
              <a:t>Commit Oracle</a:t>
            </a:r>
          </a:p>
          <a:p xmlns:a="http://schemas.openxmlformats.org/drawingml/2006/main">
            <a:r>
              <a:t>Keep the reference and status</a:t>
            </a:r>
          </a:p>
          <a:p xmlns:a="http://schemas.openxmlformats.org/drawingml/2006/main">
            <a:r>
              <a:t>If submission fails before commit, the API rolls back Oracle and attempts to remove the MongoDB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Passwords use salted scrypt hashes. Random session tokens are stored as SHA-256 hashes in Oracle. Cookies are HTTP-only, same-site lax and secure in production. SQL bindings and passenger ownership/ADMIN checks protect operations. Owner, application and reporting database accounts remain separate.</a:t>
            </a:r>
          </a:p>
          <a:p xmlns:a="http://schemas.openxmlformats.org/drawingml/2006/main">
            <a:r>
              <a:t/>
            </a:r>
            <a:endParaRPr/>
          </a:p>
          <a:p xmlns:a="http://schemas.openxmlformats.org/drawingml/2006/main">
            <a:r>
              <a:t>Before the existing-schema upgrade, the local Oracle schema was exported successfully with Data Pump. A consistent table snapshot, original DDL/stored source and MongoDB Extended JSON documents/indexes were also saved in database/backups/finalization-2026-10-07T16-16-00-066Z. Checksums and export completion were verified. The original presentation and database source were preserved there. These are data and source backups; restoration has not been tested in a separate database. Do not claim recovery testing has passed.</a:t>
            </a:r>
          </a:p>
          <a:p xmlns:a="http://schemas.openxmlformats.org/drawingml/2006/main">
            <a:r>
              <a:t/>
            </a:r>
          </a:p>
          <a:p xmlns:a="http://schemas.openxmlformats.org/drawingml/2006/main">
            <a:r>
              <a:t>Sources: database/backups/latest-finalization.txt; website/scripts/backup-databases.mjs; FINALIZATION_STATUS.md.</a:t>
            </a:r>
          </a:p>
          <a:p xmlns:a="http://schemas.openxmlformats.org/drawingml/2006/main">
            <a:r>
              <a:t>Project status: 7 October 2026. Actual payment settlement/refund payout and a media-upload interface remain outside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Passwords use salted scrypt hashes. Session tokens are random and stored as SHA-256 hashes in Oracle. Cookies are HTTP-only, same-site lax and secure in production. SQL bindings separate parameter values from statement text. The passenger APIs constrain ownership and ADMIN routes require an ADMIN session. Database accounts separate owner, app and reporting access. Existing ZIP archives preserve source only. A live database export with a tested restore procedure remains a required improvement for stronger recovery. Do not present source archives as backups of live Oracle or MongoDB data.</a:t>
            </a:r>
          </a:p>
          <a:p xmlns:a="http://schemas.openxmlformats.org/drawingml/2006/main">
            <a:endParaRPr/>
          </a:p>
          <a:p xmlns:a="http://schemas.openxmlformats.org/drawingml/2006/main">
            <a:r>
              <a:t>Project sources</a:t>
            </a:r>
          </a:p>
          <a:p xmlns:a="http://schemas.openxmlformats.org/drawingml/2006/main">
            <a:r>
              <a:t>D:\University\NIBM\HND\DM2\SmartMove\website\lib\server\auth.ts</a:t>
            </a:r>
          </a:p>
          <a:p xmlns:a="http://schemas.openxmlformats.org/drawingml/2006/main">
            <a:r>
              <a:t>D:\University\NIBM\HND\DM2\SmartMove\website\lib\server\admin-auth.ts</a:t>
            </a:r>
          </a:p>
          <a:p xmlns:a="http://schemas.openxmlformats.org/drawingml/2006/main">
            <a:r>
              <a:t>D:\University\NIBM\HND\DM2\SmartMove\website\lib\server\same-origin.ts</a:t>
            </a:r>
          </a:p>
          <a:p xmlns:a="http://schemas.openxmlformats.org/drawingml/2006/main">
            <a:r>
              <a:t>D:\University\NIBM\HND\DM2\SmartMove\database\database\oracle\01_users.sql</a:t>
            </a:r>
          </a:p>
          <a:p xmlns:a="http://schemas.openxmlformats.org/drawingml/2006/main">
            <a:r>
              <a:t>D:\University\NIBM\HND\DM2\SmartMove\database\database\oracle\06_permissions.sql</a:t>
            </a:r>
          </a:p>
          <a:p xmlns:a="http://schemas.openxmlformats.org/drawingml/2006/main">
            <a:r>
              <a:t>D:\University\NIBM\HND\DM2\SmartMove\database\README.md</a:t>
            </a:r>
          </a:p>
          <a:p xmlns:a="http://schemas.openxmlformats.org/drawingml/2006/main">
            <a:r>
              <a:t>D:\University\NIBM\HND\DM2\SmartMove\website\README.md</a:t>
            </a:r>
          </a:p>
          <a:p xmlns:a="http://schemas.openxmlformats.org/drawingml/2006/main">
            <a:endParaRPr/>
          </a:p>
          <a:p xmlns:a="http://schemas.openxmlformats.org/drawingml/2006/main">
            <a:r>
              <a:t>Project source state: 7 October 2026.</a:t>
            </a:r>
          </a:p>
          <a:p xmlns:a="http://schemas.openxmlformats.org/drawingml/2006/main">
            <a:endParaRPr/>
          </a:p>
          <a:p xmlns:a="http://schemas.openxmlformats.org/drawingml/2006/main">
            <a:endParaRPr/>
          </a:p>
          <a:p xmlns:a="http://schemas.openxmlformats.org/drawingml/2006/main">
            <a:r>
              <a:t>Additional speaking detail</a:t>
            </a:r>
          </a:p>
          <a:p xmlns:a="http://schemas.openxmlformats.org/drawingml/2006/main">
            <a:r>
              <a:t>Security, access control and recovery</a:t>
            </a:r>
          </a:p>
          <a:p xmlns:a="http://schemas.openxmlformats.org/drawingml/2006/main">
            <a:r>
              <a:t>The application checks identity and permissions before it changes transport or financial records.</a:t>
            </a:r>
          </a:p>
          <a:p xmlns:a="http://schemas.openxmlformats.org/drawingml/2006/main">
            <a:r>
              <a:t>11 / 12</a:t>
            </a:r>
          </a:p>
          <a:p xmlns:a="http://schemas.openxmlformats.org/drawingml/2006/main">
            <a:r>
              <a:t>Control</a:t>
            </a:r>
          </a:p>
          <a:p xmlns:a="http://schemas.openxmlformats.org/drawingml/2006/main">
            <a:r>
              <a:t>Current source approach</a:t>
            </a:r>
          </a:p>
          <a:p xmlns:a="http://schemas.openxmlformats.org/drawingml/2006/main">
            <a:r>
              <a:t>Passwords and sessions</a:t>
            </a:r>
          </a:p>
          <a:p xmlns:a="http://schemas.openxmlformats.org/drawingml/2006/main">
            <a:r>
              <a:t>Salted scrypt password hashes, random session tokens,</a:t>
            </a:r>
          </a:p>
          <a:p xmlns:a="http://schemas.openxmlformats.org/drawingml/2006/main">
            <a:r>
              <a:t>hashed server-side sessions and HTTP-only cookies</a:t>
            </a:r>
          </a:p>
          <a:p xmlns:a="http://schemas.openxmlformats.org/drawingml/2006/main">
            <a:r>
              <a:t>Request and record access</a:t>
            </a:r>
          </a:p>
          <a:p xmlns:a="http://schemas.openxmlformats.org/drawingml/2006/main">
            <a:r>
              <a:t>ADMIN role checks, passenger ownership checks,</a:t>
            </a:r>
          </a:p>
          <a:p xmlns:a="http://schemas.openxmlformats.org/drawingml/2006/main">
            <a:r>
              <a:t>same-origin validation and parameterized SQL</a:t>
            </a:r>
          </a:p>
          <a:p xmlns:a="http://schemas.openxmlformats.org/drawingml/2006/main">
            <a:r>
              <a:t>Database privileges</a:t>
            </a:r>
          </a:p>
          <a:p xmlns:a="http://schemas.openxmlformats.org/drawingml/2006/main">
            <a:r>
              <a:t>Separate owner, application and reporting access</a:t>
            </a:r>
          </a:p>
          <a:p xmlns:a="http://schemas.openxmlformats.org/drawingml/2006/main">
            <a:r>
              <a:t>with views and explicit procedure grants</a:t>
            </a:r>
          </a:p>
          <a:p xmlns:a="http://schemas.openxmlformats.org/drawingml/2006/main">
            <a:r>
              <a:t>Failure handling</a:t>
            </a:r>
          </a:p>
          <a:p xmlns:a="http://schemas.openxmlformats.org/drawingml/2006/main">
            <a:r>
              <a:t>Oracle COMMIT / ROLLBACK and short row locks</a:t>
            </a:r>
          </a:p>
          <a:p xmlns:a="http://schemas.openxmlformats.org/drawingml/2006/main">
            <a:r>
              <a:t>protect booking and cancellation workflows</a:t>
            </a:r>
          </a:p>
          <a:p xmlns:a="http://schemas.openxmlformats.org/drawingml/2006/main">
            <a:r>
              <a:t>Recovery coverage</a:t>
            </a:r>
          </a:p>
          <a:p xmlns:a="http://schemas.openxmlformats.org/drawingml/2006/main">
            <a:r>
              <a:t>ZIP archives preserve earlier source versions.</a:t>
            </a:r>
          </a:p>
          <a:p xmlns:a="http://schemas.openxmlformats.org/drawingml/2006/main">
            <a:r>
              <a:t>Live-data export and restore testing remain to be completed.</a:t>
            </a:r>
          </a:p>
          <a:p xmlns:a="http://schemas.openxmlformats.org/drawingml/2006/main">
            <a:r>
              <a:t>Media upload storage, database recovery and external financial settlement need further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e529e8e5034a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f182c8b5244627" /><Relationship Type="http://schemas.openxmlformats.org/officeDocument/2006/relationships/slideLayout" Target="/ppt/slideLayouts/slideLayout1.xml" Id="R34e4d5da3c0540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e4d5da3c0540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0aaa9107554c17" /><Relationship Type="http://schemas.openxmlformats.org/officeDocument/2006/relationships/notesSlide" Target="/ppt/notesSlides/notesSlide1.xml" Id="Rb116f5137a264e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c6067e4e8f4fb9" /><Relationship Type="http://schemas.openxmlformats.org/officeDocument/2006/relationships/notesSlide" Target="/ppt/notesSlides/notesSlide2.xml" Id="Rc1b9d366e51c40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7575ecc0a1447b" /><Relationship Type="http://schemas.openxmlformats.org/officeDocument/2006/relationships/notesSlide" Target="/ppt/notesSlides/notesSlide3.xml" Id="R307955e53ced44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dd8964f51e4146" /><Relationship Type="http://schemas.openxmlformats.org/officeDocument/2006/relationships/notesSlide" Target="/ppt/notesSlides/notesSlide4.xml" Id="R746aae62f58f46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efee908be14e4a" /><Relationship Type="http://schemas.openxmlformats.org/officeDocument/2006/relationships/notesSlide" Target="/ppt/notesSlides/notesSlide5.xml" Id="Rb678807907a342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52123b665644eb" /><Relationship Type="http://schemas.openxmlformats.org/officeDocument/2006/relationships/notesSlide" Target="/ppt/notesSlides/notesSlide6.xml" Id="R839c8b20cb9f41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83e9d1aa044b1c" /><Relationship Type="http://schemas.openxmlformats.org/officeDocument/2006/relationships/notesSlide" Target="/ppt/notesSlides/notesSlide7.xml" Id="R30acf50d821a40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3fccc46ea14e68" /><Relationship Type="http://schemas.openxmlformats.org/officeDocument/2006/relationships/chart" Target="/ppt/slides/charts/chart1.xml" Id="R1a330210f4ce4af0" /><Relationship Type="http://schemas.openxmlformats.org/officeDocument/2006/relationships/notesSlide" Target="/ppt/notesSlides/notesSlide8.xml" Id="R2dd25fb9819541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36e228a6a84727" /><Relationship Type="http://schemas.openxmlformats.org/officeDocument/2006/relationships/notesSlide" Target="/ppt/notesSlides/notesSlide9.xml" Id="Ra91e0777abb042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98d9fe5e3d4dc0" /><Relationship Type="http://schemas.openxmlformats.org/officeDocument/2006/relationships/notesSlide" Target="/ppt/notesSlides/notesSlide10.xml" Id="R8c9a87e8ac554b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e6531513634c1e" /><Relationship Type="http://schemas.openxmlformats.org/officeDocument/2006/relationships/notesSlide" Target="/ppt/notesSlides/notesSlide11.xml" Id="Rc9387dd046514b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3a2a609c814b51" /><Relationship Type="http://schemas.openxmlformats.org/officeDocument/2006/relationships/notesSlide" Target="/ppt/notesSlides/notesSlide12.xml" Id="R18e507b9db3448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roundedCorners val="1"/>
  <c:style val="2"/>
  <c:chart>
    <c:title>
      <c:tx>
        <c:rich>
          <a:bodyPr xmlns:a="http://schemas.openxmlformats.org/drawingml/2006/main"/>
          <a:lstStyle xmlns:a="http://schemas.openxmlformats.org/drawingml/2006/main"/>
          <a:p xmlns:a="http://schemas.openxmlformats.org/drawingml/2006/main">
            <a:r>
              <a:rPr sz="2925" b="1">
                <a:solidFill>
                  <a:srgbClr val="131313"/>
                </a:solidFill>
                <a:latin typeface="Poppins"/>
                <a:ea typeface="Poppins"/>
                <a:cs typeface="Poppins"/>
              </a:rPr>
              <a:t>Sample totals (LKR)</a:t>
            </a:r>
          </a:p>
        </c:rich>
      </c:tx>
      <c:overlay val="0"/>
      <c:txPr>
        <a:bodyPr xmlns:a="http://schemas.openxmlformats.org/drawingml/2006/main" anchorCtr="1"/>
        <a:lstStyle xmlns:a="http://schemas.openxmlformats.org/drawingml/2006/main"/>
        <a:p xmlns:a="http://schemas.openxmlformats.org/drawingml/2006/main">
          <a:pPr>
            <a:defRPr sz="2925" b="1">
              <a:solidFill>
                <a:srgbClr val="131313"/>
              </a:solidFill>
              <a:latin typeface="Poppins"/>
              <a:ea typeface="Poppins"/>
              <a:cs typeface="Poppins"/>
            </a:defRPr>
          </a:pPr>
        </a:p>
      </c:txPr>
    </c:title>
    <c:autoTitleDeleted val="0"/>
    <c:plotArea>
      <c:layout>
        <c:manualLayout>
          <c:layoutTarget val="inner"/>
          <c:xMode val="edge"/>
          <c:yMode val="edge"/>
          <c:x val="0.1309986378284993"/>
          <c:y val="0.13108483473464122"/>
          <c:w val="0.8504359613276189"/>
          <c:h val="0.7358530183727034"/>
        </c:manualLayout>
      </c:layout>
      <c:barChart>
        <c:barDir val="col"/>
        <c:grouping val="clustered"/>
        <c:varyColors val="0"/>
        <c:ser>
          <c:idx val="0"/>
          <c:order val="0"/>
          <c:tx>
            <c:v>LKR</c:v>
          </c:tx>
          <c:spPr>
            <a:solidFill xmlns:a="http://schemas.openxmlformats.org/drawingml/2006/main">
              <a:srgbClr val="FF3300"/>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2550">
                    <a:solidFill>
                      <a:srgbClr val="131313"/>
                    </a:solidFill>
                    <a:latin typeface="Nunito"/>
                    <a:ea typeface="Nunito"/>
                    <a:cs typeface="Nunito"/>
                  </a:defRPr>
                </a:pPr>
              </a:p>
            </c:txPr>
            <c:dLblPos val="outEnd"/>
            <c:showLegendKey val="0"/>
            <c:showVal val="1"/>
            <c:showCatName val="0"/>
            <c:showSerName val="0"/>
            <c:showPercent val="0"/>
            <c:showBubbleSize val="0"/>
            <c:showLeaderLines val="0"/>
          </c:dLbls>
          <c:cat>
            <c:strRef>
              <c:f>'Chart Data'!$A$2:$A$4</c:f>
              <c:strCache>
                <c:ptCount val="3"/>
                <c:pt idx="0">
                  <c:v>Payments</c:v>
                </c:pt>
                <c:pt idx="1">
                  <c:v>Refunds</c:v>
                </c:pt>
                <c:pt idx="2">
                  <c:v>Net revenue</c:v>
                </c:pt>
              </c:strCache>
            </c:strRef>
          </c:cat>
          <c:val>
            <c:numRef>
              <c:f>'Chart Data'!$B$2:$B$4</c:f>
              <c:numCache>
                <c:formatCode>#,##0</c:formatCode>
                <c:ptCount val="3"/>
                <c:pt idx="0">
                  <c:v>2900</c:v>
                </c:pt>
                <c:pt idx="1">
                  <c:v>800</c:v>
                </c:pt>
                <c:pt idx="2">
                  <c:v>2100</c:v>
                </c:pt>
              </c:numCache>
            </c:numRef>
          </c:val>
        </c:ser>
        <c:dLbls>
          <c:dLblPos val="outEnd"/>
          <c:showLegendKey val="0"/>
          <c:showVal val="1"/>
          <c:showCatName val="0"/>
          <c:showSerName val="0"/>
          <c:showPercent val="0"/>
          <c:showBubbleSize val="0"/>
        </c:dLbls>
        <c:gapWidth val="14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CCCCCC"/>
            </a:solidFill>
          </a:ln>
        </c:spPr>
        <c:txPr>
          <a:bodyPr xmlns:a="http://schemas.openxmlformats.org/drawingml/2006/main" anchorCtr="1"/>
          <a:lstStyle xmlns:a="http://schemas.openxmlformats.org/drawingml/2006/main"/>
          <a:p xmlns:a="http://schemas.openxmlformats.org/drawingml/2006/main">
            <a:pPr>
              <a:defRPr sz="2325">
                <a:solidFill>
                  <a:srgbClr val="131313"/>
                </a:solidFill>
                <a:latin typeface="Nunito"/>
                <a:ea typeface="Nunito"/>
                <a:cs typeface="Nunito"/>
              </a:defRPr>
            </a:pPr>
          </a:p>
        </c:txPr>
        <c:crossAx val="48672768"/>
        <c:crosses val="autoZero"/>
        <c:lblOffset val="100"/>
      </c:catAx>
      <c:valAx>
        <c:axId val="48672768"/>
        <c:scaling>
          <c:orientation val="minMax"/>
          <c:max val="3500"/>
          <c:min val="0"/>
        </c:scaling>
        <c:delete val="0"/>
        <c:axPos val="l"/>
        <c:majorGridlines>
          <c:spPr>
            <a:ln xmlns:a="http://schemas.openxmlformats.org/drawingml/2006/main" w="9525">
              <a:solidFill>
                <a:srgbClr val="DDDDDD"/>
              </a:solidFill>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4E4E4E"/>
                </a:solidFill>
                <a:latin typeface="Nunito"/>
                <a:ea typeface="Nunito"/>
                <a:cs typeface="Nunito"/>
              </a:defRPr>
            </a:pPr>
          </a:p>
        </c:txPr>
        <c:crossAx val="48650112"/>
        <c:crosses val="autoZero"/>
        <c:crossBetween val="between"/>
        <c:majorUnit val="1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NIBM · DATA MANAGEMENT 2">
            <a:extLst xmlns:a="http://schemas.openxmlformats.org/drawingml/2006/main">
              <a:ext uri="{FF2B5EF4-FFF2-40B4-BE49-F238E27FC236}">
                <a16:creationId xmlns:a16="http://schemas.microsoft.com/office/drawing/2014/main" id="{7F180F34-4B32-433C-9AD7-BED1BA1E863B}"/>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NIBM · DATA MANAGEMENT 2</a:t>
            </a:r>
          </a:p>
        </p:txBody>
      </p:sp>
      <p:sp>
        <p:nvSpPr>
          <p:cNvPr id="2" name="Theme rule">
            <a:extLst xmlns:a="http://schemas.openxmlformats.org/drawingml/2006/main">
              <a:ext uri="{FF2B5EF4-FFF2-40B4-BE49-F238E27FC236}">
                <a16:creationId xmlns:a16="http://schemas.microsoft.com/office/drawing/2014/main" id="{10C69F7F-F06D-4943-994E-CB71E74C50AD}"/>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01 / 12">
            <a:extLst xmlns:a="http://schemas.openxmlformats.org/drawingml/2006/main">
              <a:ext uri="{FF2B5EF4-FFF2-40B4-BE49-F238E27FC236}">
                <a16:creationId xmlns:a16="http://schemas.microsoft.com/office/drawing/2014/main" id="{28F7C6B2-3340-44DE-8F76-769BE9476F45}"/>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01 / 12</a:t>
            </a:r>
          </a:p>
        </p:txBody>
      </p:sp>
      <p:sp>
        <p:nvSpPr>
          <p:cNvPr id="4" name="SmartMove">
            <a:extLst xmlns:a="http://schemas.openxmlformats.org/drawingml/2006/main">
              <a:ext uri="{FF2B5EF4-FFF2-40B4-BE49-F238E27FC236}">
                <a16:creationId xmlns:a16="http://schemas.microsoft.com/office/drawing/2014/main" id="{C7167E62-0760-4527-8262-6E3EB67E457C}"/>
              </a:ext>
            </a:extLst>
          </p:cNvPr>
          <p:cNvSpPr>
            <a:spLocks xmlns:a="http://schemas.openxmlformats.org/drawingml/2006/main" noGrp="1"/>
          </p:cNvSpPr>
          <p:nvPr/>
        </p:nvSpPr>
        <p:spPr>
          <a:xfrm xmlns:a="http://schemas.openxmlformats.org/drawingml/2006/main">
            <a:off x="1047750" y="2109788"/>
            <a:ext cx="11906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625" b="1">
                <a:solidFill>
                  <a:srgbClr val="131313"/>
                </a:solidFill>
                <a:latin typeface="Archivo"/>
                <a:ea typeface="Archivo"/>
                <a:cs typeface="Archivo"/>
              </a:defRPr>
            </a:pPr>
            <a:r>
              <a:rPr sz="9700" b="1">
                <a:solidFill>
                  <a:srgbClr val="131313"/>
                </a:solidFill>
                <a:latin typeface="Poppins"/>
                <a:ea typeface="Poppins"/>
                <a:cs typeface="Poppins"/>
              </a:rPr>
              <a:t>SmartMove</a:t>
            </a:r>
            <a:endParaRPr sz="9700" b="1">
              <a:solidFill>
                <a:srgbClr val="131313"/>
              </a:solidFill>
              <a:latin typeface="Poppins"/>
              <a:ea typeface="Poppins"/>
              <a:cs typeface="Poppins"/>
            </a:endParaRPr>
          </a:p>
        </p:txBody>
      </p:sp>
      <p:sp>
        <p:nvSpPr>
          <p:cNvPr id="5" name="Transport">
            <a:extLst xmlns:a="http://schemas.openxmlformats.org/drawingml/2006/main">
              <a:ext uri="{FF2B5EF4-FFF2-40B4-BE49-F238E27FC236}">
                <a16:creationId xmlns:a16="http://schemas.microsoft.com/office/drawing/2014/main" id="{FCB2496A-B8AF-41DD-BB45-D323D9865F12}"/>
              </a:ext>
            </a:extLst>
          </p:cNvPr>
          <p:cNvSpPr>
            <a:spLocks xmlns:a="http://schemas.openxmlformats.org/drawingml/2006/main" noGrp="1"/>
          </p:cNvSpPr>
          <p:nvPr/>
        </p:nvSpPr>
        <p:spPr>
          <a:xfrm xmlns:a="http://schemas.openxmlformats.org/drawingml/2006/main">
            <a:off x="1047750" y="3490913"/>
            <a:ext cx="11906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625" b="1">
                <a:solidFill>
                  <a:srgbClr val="131313"/>
                </a:solidFill>
                <a:latin typeface="Archivo"/>
                <a:ea typeface="Archivo"/>
                <a:cs typeface="Archivo"/>
              </a:defRPr>
            </a:pPr>
            <a:r>
              <a:rPr sz="9700" b="1">
                <a:solidFill>
                  <a:srgbClr val="131313"/>
                </a:solidFill>
                <a:latin typeface="Poppins"/>
                <a:ea typeface="Poppins"/>
                <a:cs typeface="Poppins"/>
              </a:rPr>
              <a:t>Transport</a:t>
            </a:r>
          </a:p>
        </p:txBody>
      </p:sp>
      <p:sp>
        <p:nvSpPr>
          <p:cNvPr id="6" name="Solutions">
            <a:extLst xmlns:a="http://schemas.openxmlformats.org/drawingml/2006/main">
              <a:ext uri="{FF2B5EF4-FFF2-40B4-BE49-F238E27FC236}">
                <a16:creationId xmlns:a16="http://schemas.microsoft.com/office/drawing/2014/main" id="{2137AB1F-C466-4549-A85E-851C4E0A9B4F}"/>
              </a:ext>
            </a:extLst>
          </p:cNvPr>
          <p:cNvSpPr>
            <a:spLocks xmlns:a="http://schemas.openxmlformats.org/drawingml/2006/main" noGrp="1"/>
          </p:cNvSpPr>
          <p:nvPr/>
        </p:nvSpPr>
        <p:spPr>
          <a:xfrm xmlns:a="http://schemas.openxmlformats.org/drawingml/2006/main">
            <a:off x="1047750" y="4976813"/>
            <a:ext cx="11906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625" b="1">
                <a:solidFill>
                  <a:srgbClr val="131313"/>
                </a:solidFill>
                <a:latin typeface="Archivo"/>
                <a:ea typeface="Archivo"/>
                <a:cs typeface="Archivo"/>
              </a:defRPr>
            </a:pPr>
            <a:r>
              <a:rPr sz="9800" b="1">
                <a:solidFill>
                  <a:srgbClr val="131313"/>
                </a:solidFill>
                <a:latin typeface="Poppins"/>
                <a:ea typeface="Poppins"/>
                <a:cs typeface="Poppins"/>
              </a:rPr>
              <a:t>Solutions</a:t>
            </a:r>
          </a:p>
        </p:txBody>
      </p:sp>
      <p:sp>
        <p:nvSpPr>
          <p:cNvPr id="7" name="Passenger booking and transport operations">
            <a:extLst xmlns:a="http://schemas.openxmlformats.org/drawingml/2006/main">
              <a:ext uri="{FF2B5EF4-FFF2-40B4-BE49-F238E27FC236}">
                <a16:creationId xmlns:a16="http://schemas.microsoft.com/office/drawing/2014/main" id="{33A384A4-F711-48E3-BDE1-F2072981186F}"/>
              </a:ext>
            </a:extLst>
          </p:cNvPr>
          <p:cNvSpPr>
            <a:spLocks xmlns:a="http://schemas.openxmlformats.org/drawingml/2006/main" noGrp="1"/>
          </p:cNvSpPr>
          <p:nvPr/>
        </p:nvSpPr>
        <p:spPr>
          <a:xfrm xmlns:a="http://schemas.openxmlformats.org/drawingml/2006/main">
            <a:off x="1047750" y="6827272"/>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0">
                <a:solidFill>
                  <a:srgbClr val="131313"/>
                </a:solidFill>
                <a:latin typeface="Nunito"/>
                <a:ea typeface="Nunito"/>
                <a:cs typeface="Nunito"/>
              </a:defRPr>
            </a:pPr>
            <a:r>
              <a:rPr sz="3000" b="0">
                <a:solidFill>
                  <a:srgbClr val="131313"/>
                </a:solidFill>
                <a:latin typeface="Nunito"/>
                <a:ea typeface="Nunito"/>
                <a:cs typeface="Nunito"/>
              </a:rPr>
              <a:t>Passenger booking and transport operations</a:t>
            </a:r>
          </a:p>
        </p:txBody>
      </p:sp>
      <p:sp>
        <p:nvSpPr>
          <p:cNvPr id="8" name="Oracle Database and MongoDB">
            <a:extLst xmlns:a="http://schemas.openxmlformats.org/drawingml/2006/main">
              <a:ext uri="{FF2B5EF4-FFF2-40B4-BE49-F238E27FC236}">
                <a16:creationId xmlns:a16="http://schemas.microsoft.com/office/drawing/2014/main" id="{EA21504E-3BA4-4DF5-A8D7-5341810276A5}"/>
              </a:ext>
            </a:extLst>
          </p:cNvPr>
          <p:cNvSpPr>
            <a:spLocks xmlns:a="http://schemas.openxmlformats.org/drawingml/2006/main" noGrp="1"/>
          </p:cNvSpPr>
          <p:nvPr/>
        </p:nvSpPr>
        <p:spPr>
          <a:xfrm xmlns:a="http://schemas.openxmlformats.org/drawingml/2006/main">
            <a:off x="1047750" y="7370197"/>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0">
                <a:solidFill>
                  <a:srgbClr val="131313"/>
                </a:solidFill>
                <a:latin typeface="Nunito"/>
                <a:ea typeface="Nunito"/>
                <a:cs typeface="Nunito"/>
              </a:defRPr>
            </a:pPr>
            <a:r>
              <a:rPr sz="3000" b="0">
                <a:solidFill>
                  <a:srgbClr val="131313"/>
                </a:solidFill>
                <a:latin typeface="Nunito"/>
                <a:ea typeface="Nunito"/>
                <a:cs typeface="Nunito"/>
              </a:rPr>
              <a:t>Oracle Database and MongoDB</a:t>
            </a:r>
          </a:p>
        </p:txBody>
      </p:sp>
      <p:sp>
        <p:nvSpPr>
          <p:cNvPr id="9" name="Group members and student IDs: TBD&#10;Batch: TBD">
            <a:extLst xmlns:a="http://schemas.openxmlformats.org/drawingml/2006/main">
              <a:ext uri="{FF2B5EF4-FFF2-40B4-BE49-F238E27FC236}">
                <a16:creationId xmlns:a16="http://schemas.microsoft.com/office/drawing/2014/main" id="{F235BD00-BFDA-40E9-AFF7-CDF7D2CC0299}"/>
              </a:ext>
            </a:extLst>
          </p:cNvPr>
          <p:cNvSpPr>
            <a:spLocks xmlns:a="http://schemas.openxmlformats.org/drawingml/2006/main" noGrp="1"/>
          </p:cNvSpPr>
          <p:nvPr/>
        </p:nvSpPr>
        <p:spPr>
          <a:xfrm xmlns:a="http://schemas.openxmlformats.org/drawingml/2006/main">
            <a:off x="1047750" y="83439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31313"/>
                </a:solidFill>
                <a:latin typeface="Nunito"/>
                <a:ea typeface="Nunito"/>
                <a:cs typeface="Nunito"/>
              </a:defRPr>
            </a:pPr>
            <a:r>
              <a:rPr sz="2800" b="1">
                <a:solidFill>
                  <a:srgbClr val="131313"/>
                </a:solidFill>
                <a:latin typeface="Nunito"/>
                <a:ea typeface="Nunito"/>
                <a:cs typeface="Nunito"/>
              </a:rPr>
              <a:t>Dilukshan N  (COHNDSE261F-002)</a:t>
            </a:r>
          </a:p>
          <a:p xmlns:a="http://schemas.openxmlformats.org/drawingml/2006/main">
            <a:pPr algn="l">
              <a:buNone/>
              <a:defRPr sz="2025" b="0">
                <a:solidFill>
                  <a:srgbClr val="131313"/>
                </a:solidFill>
                <a:latin typeface="Nunito"/>
                <a:ea typeface="Nunito"/>
                <a:cs typeface="Nunito"/>
              </a:defRPr>
            </a:pPr>
            <a:r>
              <a:rPr sz="2800" b="1">
                <a:solidFill>
                  <a:srgbClr val="131313"/>
                </a:solidFill>
                <a:latin typeface="Nunito"/>
                <a:ea typeface="Nunito"/>
                <a:cs typeface="Nunito"/>
              </a:rPr>
              <a:t>Shaveen G W  (COHNDIS261F-017)</a:t>
            </a:r>
            <a:endParaRPr sz="2800" b="1">
              <a:solidFill>
                <a:srgbClr val="131313"/>
              </a:solidFill>
              <a:latin typeface="Nunito"/>
              <a:ea typeface="Nunito"/>
              <a:cs typeface="Nunito"/>
            </a:endParaRPr>
          </a:p>
        </p:txBody>
      </p:sp>
      <p:sp>
        <p:nvSpPr>
          <p:cNvPr id="10" name="Reference red ring">
            <a:extLst xmlns:a="http://schemas.openxmlformats.org/drawingml/2006/main">
              <a:ext uri="{FF2B5EF4-FFF2-40B4-BE49-F238E27FC236}">
                <a16:creationId xmlns:a16="http://schemas.microsoft.com/office/drawing/2014/main" id="{6E1F31B8-AB85-42FF-B98A-B1AE9B623033}"/>
              </a:ext>
            </a:extLst>
          </p:cNvPr>
          <p:cNvSpPr>
            <a:spLocks xmlns:a="http://schemas.openxmlformats.org/drawingml/2006/main" noGrp="1"/>
          </p:cNvSpPr>
          <p:nvPr/>
        </p:nvSpPr>
        <p:spPr>
          <a:xfrm xmlns:a="http://schemas.openxmlformats.org/drawingml/2006/main">
            <a:off x="13164164" y="2528120"/>
            <a:ext cx="2971800" cy="2971800"/>
          </a:xfrm>
          <a:prstGeom xmlns:a="http://schemas.openxmlformats.org/drawingml/2006/main" prst="ellipse">
            <a:avLst/>
          </a:prstGeom>
          <a:noFill xmlns:a="http://schemas.openxmlformats.org/drawingml/2006/main"/>
          <a:ln xmlns:a="http://schemas.openxmlformats.org/drawingml/2006/main" w="45720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11" name="Theme rule">
            <a:extLst xmlns:a="http://schemas.openxmlformats.org/drawingml/2006/main">
              <a:ext uri="{FF2B5EF4-FFF2-40B4-BE49-F238E27FC236}">
                <a16:creationId xmlns:a16="http://schemas.microsoft.com/office/drawing/2014/main" id="{70E4C004-CEE8-4162-9DA1-F685E33C0326}"/>
              </a:ext>
            </a:extLst>
          </p:cNvPr>
          <p:cNvSpPr>
            <a:spLocks xmlns:a="http://schemas.openxmlformats.org/drawingml/2006/main" noGrp="1"/>
          </p:cNvSpPr>
          <p:nvPr/>
        </p:nvSpPr>
        <p:spPr>
          <a:xfrm xmlns:a="http://schemas.openxmlformats.org/drawingml/2006/main">
            <a:off x="11525250" y="9201150"/>
            <a:ext cx="5715000" cy="0"/>
          </a:xfrm>
          <a:prstGeom xmlns:a="http://schemas.openxmlformats.org/drawingml/2006/main" prst="line">
            <a:avLst/>
          </a:prstGeom>
          <a:noFill xmlns:a="http://schemas.openxmlformats.org/drawingml/2006/main"/>
          <a:ln xmlns:a="http://schemas.openxmlformats.org/drawingml/2006/main" w="47625">
            <a:solidFill>
              <a:srgbClr val="FF3300"/>
            </a:solid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8141576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MARTMOVE  DATA MANAGEMENT 2">
            <a:extLst xmlns:a="http://schemas.openxmlformats.org/drawingml/2006/main">
              <a:ext uri="{FF2B5EF4-FFF2-40B4-BE49-F238E27FC236}">
                <a16:creationId xmlns:a16="http://schemas.microsoft.com/office/drawing/2014/main" id="{4AA12C79-F8B4-49A7-ADFE-38ED4A08D668}"/>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084A1358-7AEE-47F9-8D78-BFB125B329B1}"/>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System scope">
            <a:extLst xmlns:a="http://schemas.openxmlformats.org/drawingml/2006/main">
              <a:ext uri="{FF2B5EF4-FFF2-40B4-BE49-F238E27FC236}">
                <a16:creationId xmlns:a16="http://schemas.microsoft.com/office/drawing/2014/main" id="{DD3738D1-7039-49F5-878C-56AE93000F59}"/>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System scope</a:t>
            </a:r>
          </a:p>
        </p:txBody>
      </p:sp>
      <p:sp>
        <p:nvSpPr>
          <p:cNvPr id="4" name="02 / 12">
            <a:extLst xmlns:a="http://schemas.openxmlformats.org/drawingml/2006/main">
              <a:ext uri="{FF2B5EF4-FFF2-40B4-BE49-F238E27FC236}">
                <a16:creationId xmlns:a16="http://schemas.microsoft.com/office/drawing/2014/main" id="{D8F51476-39C3-4DB5-85B9-2AA3CFD932D1}"/>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02 / 12</a:t>
            </a:r>
          </a:p>
        </p:txBody>
      </p:sp>
      <p:sp>
        <p:nvSpPr>
          <p:cNvPr id="5" name="01">
            <a:extLst xmlns:a="http://schemas.openxmlformats.org/drawingml/2006/main">
              <a:ext uri="{FF2B5EF4-FFF2-40B4-BE49-F238E27FC236}">
                <a16:creationId xmlns:a16="http://schemas.microsoft.com/office/drawing/2014/main" id="{028FD3F2-F53A-4644-9AD5-E99740567440}"/>
              </a:ext>
            </a:extLst>
          </p:cNvPr>
          <p:cNvSpPr>
            <a:spLocks xmlns:a="http://schemas.openxmlformats.org/drawingml/2006/main" noGrp="1"/>
          </p:cNvSpPr>
          <p:nvPr/>
        </p:nvSpPr>
        <p:spPr>
          <a:xfrm xmlns:a="http://schemas.openxmlformats.org/drawingml/2006/main">
            <a:off x="1047750" y="3714750"/>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01</a:t>
            </a:r>
          </a:p>
        </p:txBody>
      </p:sp>
      <p:sp>
        <p:nvSpPr>
          <p:cNvPr id="6" name="Transport operations">
            <a:extLst xmlns:a="http://schemas.openxmlformats.org/drawingml/2006/main">
              <a:ext uri="{FF2B5EF4-FFF2-40B4-BE49-F238E27FC236}">
                <a16:creationId xmlns:a16="http://schemas.microsoft.com/office/drawing/2014/main" id="{7FEA004F-A27A-4A4F-8349-8BEA408E8168}"/>
              </a:ext>
            </a:extLst>
          </p:cNvPr>
          <p:cNvSpPr>
            <a:spLocks xmlns:a="http://schemas.openxmlformats.org/drawingml/2006/main" noGrp="1"/>
          </p:cNvSpPr>
          <p:nvPr/>
        </p:nvSpPr>
        <p:spPr>
          <a:xfrm xmlns:a="http://schemas.openxmlformats.org/drawingml/2006/main">
            <a:off x="1047750" y="4876800"/>
            <a:ext cx="4714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Transport operations</a:t>
            </a:r>
            <a:endParaRPr sz="3225" b="1">
              <a:solidFill>
                <a:srgbClr val="131313"/>
              </a:solidFill>
              <a:latin typeface="Poppins"/>
              <a:ea typeface="Poppins"/>
              <a:cs typeface="Poppins"/>
            </a:endParaRPr>
          </a:p>
        </p:txBody>
      </p:sp>
      <p:sp>
        <p:nvSpPr>
          <p:cNvPr id="7" name="Vehicles, drivers and routes&#10;Trip scheduling">
            <a:extLst xmlns:a="http://schemas.openxmlformats.org/drawingml/2006/main">
              <a:ext uri="{FF2B5EF4-FFF2-40B4-BE49-F238E27FC236}">
                <a16:creationId xmlns:a16="http://schemas.microsoft.com/office/drawing/2014/main" id="{DA28E2EA-9B4C-4EA6-925B-1B73CDAC42E5}"/>
              </a:ext>
            </a:extLst>
          </p:cNvPr>
          <p:cNvSpPr>
            <a:spLocks xmlns:a="http://schemas.openxmlformats.org/drawingml/2006/main" noGrp="1"/>
          </p:cNvSpPr>
          <p:nvPr/>
        </p:nvSpPr>
        <p:spPr>
          <a:xfrm xmlns:a="http://schemas.openxmlformats.org/drawingml/2006/main">
            <a:off x="1047750" y="6334125"/>
            <a:ext cx="4714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Vehicles, drivers and routes</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Trip scheduling</a:t>
            </a:r>
          </a:p>
        </p:txBody>
      </p:sp>
      <p:sp>
        <p:nvSpPr>
          <p:cNvPr id="8" name="02">
            <a:extLst xmlns:a="http://schemas.openxmlformats.org/drawingml/2006/main">
              <a:ext uri="{FF2B5EF4-FFF2-40B4-BE49-F238E27FC236}">
                <a16:creationId xmlns:a16="http://schemas.microsoft.com/office/drawing/2014/main" id="{D5F0E224-350C-4BCF-9EA6-A828DB6239BF}"/>
              </a:ext>
            </a:extLst>
          </p:cNvPr>
          <p:cNvSpPr>
            <a:spLocks xmlns:a="http://schemas.openxmlformats.org/drawingml/2006/main" noGrp="1"/>
          </p:cNvSpPr>
          <p:nvPr/>
        </p:nvSpPr>
        <p:spPr>
          <a:xfrm xmlns:a="http://schemas.openxmlformats.org/drawingml/2006/main">
            <a:off x="6715125" y="3714750"/>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02</a:t>
            </a:r>
          </a:p>
        </p:txBody>
      </p:sp>
      <p:sp>
        <p:nvSpPr>
          <p:cNvPr id="9" name="Passenger services">
            <a:extLst xmlns:a="http://schemas.openxmlformats.org/drawingml/2006/main">
              <a:ext uri="{FF2B5EF4-FFF2-40B4-BE49-F238E27FC236}">
                <a16:creationId xmlns:a16="http://schemas.microsoft.com/office/drawing/2014/main" id="{871BD2A1-C0C5-49FD-8E6C-69CA867B655C}"/>
              </a:ext>
            </a:extLst>
          </p:cNvPr>
          <p:cNvSpPr>
            <a:spLocks xmlns:a="http://schemas.openxmlformats.org/drawingml/2006/main" noGrp="1"/>
          </p:cNvSpPr>
          <p:nvPr/>
        </p:nvSpPr>
        <p:spPr>
          <a:xfrm xmlns:a="http://schemas.openxmlformats.org/drawingml/2006/main">
            <a:off x="6715125" y="4876800"/>
            <a:ext cx="4714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Passenger services</a:t>
            </a:r>
          </a:p>
        </p:txBody>
      </p:sp>
      <p:sp>
        <p:nvSpPr>
          <p:cNvPr id="10" name="Registration and bookings&#10;Tickets and payments">
            <a:extLst xmlns:a="http://schemas.openxmlformats.org/drawingml/2006/main">
              <a:ext uri="{FF2B5EF4-FFF2-40B4-BE49-F238E27FC236}">
                <a16:creationId xmlns:a16="http://schemas.microsoft.com/office/drawing/2014/main" id="{E34588BF-969C-418D-AA23-4B7985CC180E}"/>
              </a:ext>
            </a:extLst>
          </p:cNvPr>
          <p:cNvSpPr>
            <a:spLocks xmlns:a="http://schemas.openxmlformats.org/drawingml/2006/main" noGrp="1"/>
          </p:cNvSpPr>
          <p:nvPr/>
        </p:nvSpPr>
        <p:spPr>
          <a:xfrm xmlns:a="http://schemas.openxmlformats.org/drawingml/2006/main">
            <a:off x="6715125" y="6334125"/>
            <a:ext cx="4714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Registration and bookings</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Tickets and payments</a:t>
            </a:r>
          </a:p>
        </p:txBody>
      </p:sp>
      <p:sp>
        <p:nvSpPr>
          <p:cNvPr id="11" name="03">
            <a:extLst xmlns:a="http://schemas.openxmlformats.org/drawingml/2006/main">
              <a:ext uri="{FF2B5EF4-FFF2-40B4-BE49-F238E27FC236}">
                <a16:creationId xmlns:a16="http://schemas.microsoft.com/office/drawing/2014/main" id="{64A073FD-D56C-4C3A-8FEA-7B67A91AB004}"/>
              </a:ext>
            </a:extLst>
          </p:cNvPr>
          <p:cNvSpPr>
            <a:spLocks xmlns:a="http://schemas.openxmlformats.org/drawingml/2006/main" noGrp="1"/>
          </p:cNvSpPr>
          <p:nvPr/>
        </p:nvSpPr>
        <p:spPr>
          <a:xfrm xmlns:a="http://schemas.openxmlformats.org/drawingml/2006/main">
            <a:off x="12382500"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03</a:t>
            </a:r>
          </a:p>
        </p:txBody>
      </p:sp>
      <p:sp>
        <p:nvSpPr>
          <p:cNvPr id="12" name="Service follow-up">
            <a:extLst xmlns:a="http://schemas.openxmlformats.org/drawingml/2006/main">
              <a:ext uri="{FF2B5EF4-FFF2-40B4-BE49-F238E27FC236}">
                <a16:creationId xmlns:a16="http://schemas.microsoft.com/office/drawing/2014/main" id="{84EFE895-2871-4C0C-902A-DFFB98919C8F}"/>
              </a:ext>
            </a:extLst>
          </p:cNvPr>
          <p:cNvSpPr>
            <a:spLocks xmlns:a="http://schemas.openxmlformats.org/drawingml/2006/main" noGrp="1"/>
          </p:cNvSpPr>
          <p:nvPr/>
        </p:nvSpPr>
        <p:spPr>
          <a:xfrm xmlns:a="http://schemas.openxmlformats.org/drawingml/2006/main">
            <a:off x="12382500"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Service follow-up</a:t>
            </a:r>
          </a:p>
        </p:txBody>
      </p:sp>
      <p:sp>
        <p:nvSpPr>
          <p:cNvPr id="13" name="Maintenance&#10;Feedback and reviews">
            <a:extLst xmlns:a="http://schemas.openxmlformats.org/drawingml/2006/main">
              <a:ext uri="{FF2B5EF4-FFF2-40B4-BE49-F238E27FC236}">
                <a16:creationId xmlns:a16="http://schemas.microsoft.com/office/drawing/2014/main" id="{CB3FEE84-7E6E-46F4-84D2-EE407076E73C}"/>
              </a:ext>
            </a:extLst>
          </p:cNvPr>
          <p:cNvSpPr>
            <a:spLocks xmlns:a="http://schemas.openxmlformats.org/drawingml/2006/main" noGrp="1"/>
          </p:cNvSpPr>
          <p:nvPr/>
        </p:nvSpPr>
        <p:spPr>
          <a:xfrm xmlns:a="http://schemas.openxmlformats.org/drawingml/2006/main">
            <a:off x="12382500"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Maintenance</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Feedback and reviews</a:t>
            </a:r>
          </a:p>
        </p:txBody>
      </p:sp>
    </p:spTree>
    <p:extLst>
      <p:ext uri="{BB962C8B-B14F-4D97-AF65-F5344CB8AC3E}">
        <p14:creationId xmlns:p14="http://schemas.microsoft.com/office/powerpoint/2010/main" val="17744148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MARTMOVE  DATA MANAGEMENT 2">
            <a:extLst xmlns:a="http://schemas.openxmlformats.org/drawingml/2006/main">
              <a:ext uri="{FF2B5EF4-FFF2-40B4-BE49-F238E27FC236}">
                <a16:creationId xmlns:a16="http://schemas.microsoft.com/office/drawing/2014/main" id="{4929C551-6DEB-4753-91EF-CA9F3D4E1ED8}"/>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52F3F218-5B2D-42E6-963B-C8CEA756667F}"/>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System architecture">
            <a:extLst xmlns:a="http://schemas.openxmlformats.org/drawingml/2006/main">
              <a:ext uri="{FF2B5EF4-FFF2-40B4-BE49-F238E27FC236}">
                <a16:creationId xmlns:a16="http://schemas.microsoft.com/office/drawing/2014/main" id="{B7CDE0F4-0A36-447F-8CF6-166C52A554DF}"/>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System architecture</a:t>
            </a:r>
          </a:p>
        </p:txBody>
      </p:sp>
      <p:sp>
        <p:nvSpPr>
          <p:cNvPr id="4" name="03 / 12">
            <a:extLst xmlns:a="http://schemas.openxmlformats.org/drawingml/2006/main">
              <a:ext uri="{FF2B5EF4-FFF2-40B4-BE49-F238E27FC236}">
                <a16:creationId xmlns:a16="http://schemas.microsoft.com/office/drawing/2014/main" id="{ACAE02FD-CD10-467C-9782-0E871BA74F85}"/>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03 / 12</a:t>
            </a:r>
          </a:p>
        </p:txBody>
      </p:sp>
      <p:sp>
        <p:nvSpPr>
          <p:cNvPr id="5" name="Browser&#10;Passenger / ADMIN">
            <a:extLst xmlns:a="http://schemas.openxmlformats.org/drawingml/2006/main">
              <a:ext uri="{FF2B5EF4-FFF2-40B4-BE49-F238E27FC236}">
                <a16:creationId xmlns:a16="http://schemas.microsoft.com/office/drawing/2014/main" id="{DC6A4763-7713-4A91-8B5F-6A8D62D15F7B}"/>
              </a:ext>
            </a:extLst>
          </p:cNvPr>
          <p:cNvSpPr>
            <a:spLocks xmlns:a="http://schemas.openxmlformats.org/drawingml/2006/main" noGrp="1"/>
          </p:cNvSpPr>
          <p:nvPr/>
        </p:nvSpPr>
        <p:spPr>
          <a:xfrm xmlns:a="http://schemas.openxmlformats.org/drawingml/2006/main">
            <a:off x="1047749" y="4067175"/>
            <a:ext cx="4320663"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850">
                <a:solidFill>
                  <a:srgbClr val="131313"/>
                </a:solidFill>
                <a:latin typeface="Nunito"/>
                <a:ea typeface="Nunito"/>
                <a:cs typeface="Nunito"/>
              </a:defRPr>
            </a:pPr>
            <a:r>
              <a:rPr sz="2850" b="1">
                <a:solidFill>
                  <a:srgbClr val="131313"/>
                </a:solidFill>
                <a:latin typeface="Nunito"/>
                <a:ea typeface="Nunito"/>
                <a:cs typeface="Nunito"/>
              </a:rPr>
              <a:t>Browser</a:t>
            </a:r>
          </a:p>
          <a:p xmlns:a="http://schemas.openxmlformats.org/drawingml/2006/main">
            <a:pPr algn="ctr">
              <a:buNone/>
              <a:defRPr sz="2850">
                <a:solidFill>
                  <a:srgbClr val="131313"/>
                </a:solidFill>
                <a:latin typeface="Nunito"/>
                <a:ea typeface="Nunito"/>
                <a:cs typeface="Nunito"/>
              </a:defRPr>
            </a:pPr>
            <a:r>
              <a:rPr sz="2850">
                <a:solidFill>
                  <a:srgbClr val="131313"/>
                </a:solidFill>
                <a:latin typeface="Nunito"/>
                <a:ea typeface="Nunito"/>
                <a:cs typeface="Nunito"/>
              </a:rPr>
              <a:t>Passenger / ADMIN</a:t>
            </a:r>
          </a:p>
        </p:txBody>
      </p:sp>
      <p:sp>
        <p:nvSpPr>
          <p:cNvPr id="6" name="Next.js server&#10;API and access checks">
            <a:extLst xmlns:a="http://schemas.openxmlformats.org/drawingml/2006/main">
              <a:ext uri="{FF2B5EF4-FFF2-40B4-BE49-F238E27FC236}">
                <a16:creationId xmlns:a16="http://schemas.microsoft.com/office/drawing/2014/main" id="{A3AA1F64-C53A-4405-B1BD-FF0A4A94B477}"/>
              </a:ext>
            </a:extLst>
          </p:cNvPr>
          <p:cNvSpPr>
            <a:spLocks xmlns:a="http://schemas.openxmlformats.org/drawingml/2006/main" noGrp="1"/>
          </p:cNvSpPr>
          <p:nvPr/>
        </p:nvSpPr>
        <p:spPr>
          <a:xfrm xmlns:a="http://schemas.openxmlformats.org/drawingml/2006/main">
            <a:off x="7618464" y="4067175"/>
            <a:ext cx="581025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850">
                <a:solidFill>
                  <a:srgbClr val="131313"/>
                </a:solidFill>
                <a:latin typeface="Nunito"/>
                <a:ea typeface="Nunito"/>
                <a:cs typeface="Nunito"/>
              </a:defRPr>
            </a:pPr>
            <a:r>
              <a:rPr sz="2850" b="1">
                <a:solidFill>
                  <a:srgbClr val="131313"/>
                </a:solidFill>
                <a:latin typeface="Nunito"/>
                <a:ea typeface="Nunito"/>
                <a:cs typeface="Nunito"/>
              </a:rPr>
              <a:t>Next.js server</a:t>
            </a:r>
          </a:p>
          <a:p xmlns:a="http://schemas.openxmlformats.org/drawingml/2006/main">
            <a:pPr algn="ctr">
              <a:buNone/>
              <a:defRPr sz="2850">
                <a:solidFill>
                  <a:srgbClr val="131313"/>
                </a:solidFill>
                <a:latin typeface="Nunito"/>
                <a:ea typeface="Nunito"/>
                <a:cs typeface="Nunito"/>
              </a:defRPr>
            </a:pPr>
            <a:r>
              <a:rPr sz="2850">
                <a:solidFill>
                  <a:srgbClr val="131313"/>
                </a:solidFill>
                <a:latin typeface="Nunito"/>
                <a:ea typeface="Nunito"/>
                <a:cs typeface="Nunito"/>
              </a:rPr>
              <a:t>API and access checks</a:t>
            </a:r>
          </a:p>
        </p:txBody>
      </p:sp>
      <p:sp>
        <p:nvSpPr>
          <p:cNvPr id="7" name="Oracle&#10;Transport and transactions">
            <a:extLst xmlns:a="http://schemas.openxmlformats.org/drawingml/2006/main">
              <a:ext uri="{FF2B5EF4-FFF2-40B4-BE49-F238E27FC236}">
                <a16:creationId xmlns:a16="http://schemas.microsoft.com/office/drawing/2014/main" id="{CA9B5130-BB9D-4613-A83E-70A5C682F259}"/>
              </a:ext>
            </a:extLst>
          </p:cNvPr>
          <p:cNvSpPr>
            <a:spLocks xmlns:a="http://schemas.openxmlformats.org/drawingml/2006/main" noGrp="1"/>
          </p:cNvSpPr>
          <p:nvPr/>
        </p:nvSpPr>
        <p:spPr>
          <a:xfrm xmlns:a="http://schemas.openxmlformats.org/drawingml/2006/main">
            <a:off x="4191000" y="7324725"/>
            <a:ext cx="5334000" cy="133350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925">
                <a:solidFill>
                  <a:srgbClr val="131313"/>
                </a:solidFill>
                <a:latin typeface="Nunito"/>
                <a:ea typeface="Nunito"/>
                <a:cs typeface="Nunito"/>
              </a:defRPr>
            </a:pPr>
            <a:r>
              <a:rPr sz="2925" b="1">
                <a:solidFill>
                  <a:srgbClr val="131313"/>
                </a:solidFill>
                <a:latin typeface="Nunito"/>
                <a:ea typeface="Nunito"/>
                <a:cs typeface="Nunito"/>
              </a:rPr>
              <a:t>Oracle</a:t>
            </a:r>
          </a:p>
          <a:p xmlns:a="http://schemas.openxmlformats.org/drawingml/2006/main">
            <a:pPr algn="ctr">
              <a:buNone/>
              <a:defRPr sz="2925">
                <a:solidFill>
                  <a:srgbClr val="131313"/>
                </a:solidFill>
                <a:latin typeface="Nunito"/>
                <a:ea typeface="Nunito"/>
                <a:cs typeface="Nunito"/>
              </a:defRPr>
            </a:pPr>
            <a:r>
              <a:rPr sz="2925">
                <a:solidFill>
                  <a:srgbClr val="131313"/>
                </a:solidFill>
                <a:latin typeface="Nunito"/>
                <a:ea typeface="Nunito"/>
                <a:cs typeface="Nunito"/>
              </a:rPr>
              <a:t>Transport and transactions</a:t>
            </a:r>
          </a:p>
        </p:txBody>
      </p:sp>
      <p:sp>
        <p:nvSpPr>
          <p:cNvPr id="8" name="MongoDB&#10;Feedback and content">
            <a:extLst xmlns:a="http://schemas.openxmlformats.org/drawingml/2006/main">
              <a:ext uri="{FF2B5EF4-FFF2-40B4-BE49-F238E27FC236}">
                <a16:creationId xmlns:a16="http://schemas.microsoft.com/office/drawing/2014/main" id="{0E2F2940-6BBF-4CD4-9830-7C5A17FBD8C4}"/>
              </a:ext>
            </a:extLst>
          </p:cNvPr>
          <p:cNvSpPr>
            <a:spLocks xmlns:a="http://schemas.openxmlformats.org/drawingml/2006/main" noGrp="1"/>
          </p:cNvSpPr>
          <p:nvPr/>
        </p:nvSpPr>
        <p:spPr>
          <a:xfrm xmlns:a="http://schemas.openxmlformats.org/drawingml/2006/main">
            <a:off x="11430000" y="7324725"/>
            <a:ext cx="5810250" cy="133350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925">
                <a:solidFill>
                  <a:srgbClr val="131313"/>
                </a:solidFill>
                <a:latin typeface="Nunito"/>
                <a:ea typeface="Nunito"/>
                <a:cs typeface="Nunito"/>
              </a:defRPr>
            </a:pPr>
            <a:r>
              <a:rPr sz="2925" b="1">
                <a:solidFill>
                  <a:srgbClr val="131313"/>
                </a:solidFill>
                <a:latin typeface="Nunito"/>
                <a:ea typeface="Nunito"/>
                <a:cs typeface="Nunito"/>
              </a:rPr>
              <a:t>MongoDB</a:t>
            </a:r>
          </a:p>
          <a:p xmlns:a="http://schemas.openxmlformats.org/drawingml/2006/main">
            <a:pPr algn="ctr">
              <a:buNone/>
              <a:defRPr sz="2925">
                <a:solidFill>
                  <a:srgbClr val="131313"/>
                </a:solidFill>
                <a:latin typeface="Nunito"/>
                <a:ea typeface="Nunito"/>
                <a:cs typeface="Nunito"/>
              </a:defRPr>
            </a:pPr>
            <a:r>
              <a:rPr sz="2925">
                <a:solidFill>
                  <a:srgbClr val="131313"/>
                </a:solidFill>
                <a:latin typeface="Nunito"/>
                <a:ea typeface="Nunito"/>
                <a:cs typeface="Nunito"/>
              </a:rPr>
              <a:t>Feedback and content</a:t>
            </a:r>
          </a:p>
        </p:txBody>
      </p:sp>
      <p:cxnSp>
        <p:nvCxnSpPr>
          <p:cNvPr id="31" name="Straight Arrow Connector 19"/>
          <p:cNvCxnSpPr>
            <a:stCxn xmlns:a="http://schemas.openxmlformats.org/drawingml/2006/main" id="5" idx="3"/>
            <a:endCxn xmlns:a="http://schemas.openxmlformats.org/drawingml/2006/main" id="6" idx="1"/>
          </p:cNvCxnSpPr>
          <p:nvPr/>
        </p:nvCxnSpPr>
        <p:spPr>
          <a:xfrm xmlns:a="http://schemas.openxmlformats.org/drawingml/2006/main">
            <a:off x="5368412" y="4781550"/>
            <a:ext cx="2250052" cy="0"/>
          </a:xfrm>
          <a:prstGeom xmlns:a="http://schemas.openxmlformats.org/drawingml/2006/main" prst="straightConnector1">
            <a:avLst/>
          </a:prstGeom>
          <a:ln xmlns:a="http://schemas.openxmlformats.org/drawingml/2006/main" w="28575">
            <a:solidFill>
              <a:srgbClr val="FF3300"/>
            </a:solidFill>
            <a:tailEnd type="triangle" w="med" len="med"/>
          </a:ln>
        </p:spPr>
      </p:cxnSp>
      <p:cxnSp>
        <p:nvCxnSpPr>
          <p:cNvPr id="32" name="Connector: Elbow 20"/>
          <p:cNvCxnSpPr>
            <a:stCxn xmlns:a="http://schemas.openxmlformats.org/drawingml/2006/main" id="6" idx="2"/>
            <a:endCxn xmlns:a="http://schemas.openxmlformats.org/drawingml/2006/main" id="7" idx="0"/>
          </p:cNvCxnSpPr>
          <p:nvPr/>
        </p:nvCxnSpPr>
        <p:spPr>
          <a:xfrm xmlns:a="http://schemas.openxmlformats.org/drawingml/2006/main" rot="5400000">
            <a:off x="7776395" y="4577531"/>
            <a:ext cx="1828800" cy="3665589"/>
          </a:xfrm>
          <a:prstGeom xmlns:a="http://schemas.openxmlformats.org/drawingml/2006/main" prst="bentConnector3">
            <a:avLst>
              <a:gd name="adj1" fmla="val 50000"/>
            </a:avLst>
          </a:prstGeom>
          <a:ln xmlns:a="http://schemas.openxmlformats.org/drawingml/2006/main" w="28575">
            <a:solidFill>
              <a:srgbClr val="FF3300"/>
            </a:solidFill>
            <a:tailEnd type="triangle" w="med" len="med"/>
          </a:ln>
        </p:spPr>
      </p:cxnSp>
      <p:cxnSp>
        <p:nvCxnSpPr>
          <p:cNvPr id="33" name="Connector: Elbow 21"/>
          <p:cNvCxnSpPr>
            <a:stCxn xmlns:a="http://schemas.openxmlformats.org/drawingml/2006/main" id="6" idx="2"/>
            <a:endCxn xmlns:a="http://schemas.openxmlformats.org/drawingml/2006/main" id="8" idx="0"/>
          </p:cNvCxnSpPr>
          <p:nvPr/>
        </p:nvCxnSpPr>
        <p:spPr>
          <a:xfrm xmlns:a="http://schemas.openxmlformats.org/drawingml/2006/main" rot="16200000" flipH="1">
            <a:off x="11514957" y="4504557"/>
            <a:ext cx="1828800" cy="3811536"/>
          </a:xfrm>
          <a:prstGeom xmlns:a="http://schemas.openxmlformats.org/drawingml/2006/main" prst="bentConnector3">
            <a:avLst>
              <a:gd name="adj1" fmla="val 50000"/>
            </a:avLst>
          </a:prstGeom>
          <a:ln xmlns:a="http://schemas.openxmlformats.org/drawingml/2006/main" w="28575">
            <a:solidFill>
              <a:srgbClr val="FF3300"/>
            </a:solidFill>
            <a:tailEnd type="triangle" w="med" len="med"/>
          </a:ln>
        </p:spPr>
      </p:cxnSp>
    </p:spTree>
    <p:extLst>
      <p:ext uri="{BB962C8B-B14F-4D97-AF65-F5344CB8AC3E}">
        <p14:creationId xmlns:p14="http://schemas.microsoft.com/office/powerpoint/2010/main" val="15853316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SMARTMOVE  DATA MANAGEMENT 2">
            <a:extLst xmlns:a="http://schemas.openxmlformats.org/drawingml/2006/main">
              <a:ext uri="{FF2B5EF4-FFF2-40B4-BE49-F238E27FC236}">
                <a16:creationId xmlns:a16="http://schemas.microsoft.com/office/drawing/2014/main" id="{AD85DC41-BBC1-4067-9D18-AA49D677B4B8}"/>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F6935CF5-637B-4940-AABC-28ADF8B9AD74}"/>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ER overview">
            <a:extLst xmlns:a="http://schemas.openxmlformats.org/drawingml/2006/main">
              <a:ext uri="{FF2B5EF4-FFF2-40B4-BE49-F238E27FC236}">
                <a16:creationId xmlns:a16="http://schemas.microsoft.com/office/drawing/2014/main" id="{BB059D86-DA52-4AFC-A34A-01905A245D4D}"/>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ER overview</a:t>
            </a:r>
          </a:p>
        </p:txBody>
      </p:sp>
      <p:sp>
        <p:nvSpPr>
          <p:cNvPr id="4" name="04 / 12">
            <a:extLst xmlns:a="http://schemas.openxmlformats.org/drawingml/2006/main">
              <a:ext uri="{FF2B5EF4-FFF2-40B4-BE49-F238E27FC236}">
                <a16:creationId xmlns:a16="http://schemas.microsoft.com/office/drawing/2014/main" id="{6FF9E669-1E04-455B-ABF0-D27842C37812}"/>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04 / 12</a:t>
            </a:r>
          </a:p>
        </p:txBody>
      </p:sp>
      <p:sp>
        <p:nvSpPr>
          <p:cNvPr id="5" name="16 tables    14 relationships">
            <a:extLst xmlns:a="http://schemas.openxmlformats.org/drawingml/2006/main">
              <a:ext uri="{FF2B5EF4-FFF2-40B4-BE49-F238E27FC236}">
                <a16:creationId xmlns:a16="http://schemas.microsoft.com/office/drawing/2014/main" id="{4EABA21A-80E2-4A6D-A1AE-F8C2019618EF}"/>
              </a:ext>
            </a:extLst>
          </p:cNvPr>
          <p:cNvSpPr>
            <a:spLocks xmlns:a="http://schemas.openxmlformats.org/drawingml/2006/main" noGrp="1"/>
          </p:cNvSpPr>
          <p:nvPr/>
        </p:nvSpPr>
        <p:spPr>
          <a:xfrm xmlns:a="http://schemas.openxmlformats.org/drawingml/2006/main">
            <a:off x="12001500" y="25146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2325" b="0">
                <a:solidFill>
                  <a:srgbClr val="FF3300"/>
                </a:solidFill>
                <a:latin typeface="Nunito"/>
                <a:ea typeface="Nunito"/>
                <a:cs typeface="Nunito"/>
              </a:defRPr>
            </a:pPr>
            <a:r>
              <a:rPr sz="2325" b="0">
                <a:solidFill>
                  <a:srgbClr val="FF3300"/>
                </a:solidFill>
                <a:latin typeface="Nunito"/>
                <a:ea typeface="Nunito"/>
                <a:cs typeface="Nunito"/>
              </a:rPr>
              <a:t>16 tables    14 relationships</a:t>
            </a:r>
          </a:p>
        </p:txBody>
      </p:sp>
      <p:sp>
        <p:nvSpPr>
          <p:cNvPr id="6" name="web_notification_&#10;baseline">
            <a:extLst xmlns:a="http://schemas.openxmlformats.org/drawingml/2006/main">
              <a:ext uri="{FF2B5EF4-FFF2-40B4-BE49-F238E27FC236}">
                <a16:creationId xmlns:a16="http://schemas.microsoft.com/office/drawing/2014/main" id="{B5D42161-21C1-458F-858C-D8C80CC210C1}"/>
              </a:ext>
            </a:extLst>
          </p:cNvPr>
          <p:cNvSpPr>
            <a:spLocks xmlns:a="http://schemas.openxmlformats.org/drawingml/2006/main" noGrp="1"/>
          </p:cNvSpPr>
          <p:nvPr/>
        </p:nvSpPr>
        <p:spPr>
          <a:xfrm xmlns:a="http://schemas.openxmlformats.org/drawingml/2006/main">
            <a:off x="952500" y="33337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1875">
                <a:solidFill>
                  <a:srgbClr val="131313"/>
                </a:solidFill>
                <a:latin typeface="Nunito"/>
                <a:ea typeface="Nunito"/>
                <a:cs typeface="Nunito"/>
              </a:defRPr>
            </a:pPr>
            <a:r>
              <a:rPr sz="1875" b="1">
                <a:solidFill>
                  <a:srgbClr val="131313"/>
                </a:solidFill>
                <a:latin typeface="Nunito"/>
                <a:ea typeface="Nunito"/>
                <a:cs typeface="Nunito"/>
              </a:rPr>
              <a:t>web_notification_</a:t>
            </a:r>
          </a:p>
          <a:p xmlns:a="http://schemas.openxmlformats.org/drawingml/2006/main">
            <a:pPr algn="ctr">
              <a:buNone/>
              <a:defRPr sz="1875">
                <a:solidFill>
                  <a:srgbClr val="131313"/>
                </a:solidFill>
                <a:latin typeface="Nunito"/>
                <a:ea typeface="Nunito"/>
                <a:cs typeface="Nunito"/>
              </a:defRPr>
            </a:pPr>
            <a:r>
              <a:rPr sz="1875">
                <a:solidFill>
                  <a:srgbClr val="131313"/>
                </a:solidFill>
                <a:latin typeface="Nunito"/>
                <a:ea typeface="Nunito"/>
                <a:cs typeface="Nunito"/>
              </a:rPr>
              <a:t>baseline</a:t>
            </a:r>
          </a:p>
        </p:txBody>
      </p:sp>
      <p:sp>
        <p:nvSpPr>
          <p:cNvPr id="7" name="routes">
            <a:extLst xmlns:a="http://schemas.openxmlformats.org/drawingml/2006/main">
              <a:ext uri="{FF2B5EF4-FFF2-40B4-BE49-F238E27FC236}">
                <a16:creationId xmlns:a16="http://schemas.microsoft.com/office/drawing/2014/main" id="{74ADE5C4-0E48-4C1B-97AA-71EE89B2251A}"/>
              </a:ext>
            </a:extLst>
          </p:cNvPr>
          <p:cNvSpPr>
            <a:spLocks xmlns:a="http://schemas.openxmlformats.org/drawingml/2006/main" noGrp="1"/>
          </p:cNvSpPr>
          <p:nvPr/>
        </p:nvSpPr>
        <p:spPr>
          <a:xfrm xmlns:a="http://schemas.openxmlformats.org/drawingml/2006/main">
            <a:off x="4476750" y="33337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routes</a:t>
            </a:r>
          </a:p>
        </p:txBody>
      </p:sp>
      <p:sp>
        <p:nvSpPr>
          <p:cNvPr id="8" name="vehicles">
            <a:extLst xmlns:a="http://schemas.openxmlformats.org/drawingml/2006/main">
              <a:ext uri="{FF2B5EF4-FFF2-40B4-BE49-F238E27FC236}">
                <a16:creationId xmlns:a16="http://schemas.microsoft.com/office/drawing/2014/main" id="{9C9E8E8A-1D92-4B81-B796-576B311F6D1A}"/>
              </a:ext>
            </a:extLst>
          </p:cNvPr>
          <p:cNvSpPr>
            <a:spLocks xmlns:a="http://schemas.openxmlformats.org/drawingml/2006/main" noGrp="1"/>
          </p:cNvSpPr>
          <p:nvPr/>
        </p:nvSpPr>
        <p:spPr>
          <a:xfrm xmlns:a="http://schemas.openxmlformats.org/drawingml/2006/main">
            <a:off x="8001000" y="33337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vehicles</a:t>
            </a:r>
          </a:p>
        </p:txBody>
      </p:sp>
      <p:sp>
        <p:nvSpPr>
          <p:cNvPr id="9" name="drivers">
            <a:extLst xmlns:a="http://schemas.openxmlformats.org/drawingml/2006/main">
              <a:ext uri="{FF2B5EF4-FFF2-40B4-BE49-F238E27FC236}">
                <a16:creationId xmlns:a16="http://schemas.microsoft.com/office/drawing/2014/main" id="{208F4C19-58BE-4C36-9DD5-0BEC1D778EF0}"/>
              </a:ext>
            </a:extLst>
          </p:cNvPr>
          <p:cNvSpPr>
            <a:spLocks xmlns:a="http://schemas.openxmlformats.org/drawingml/2006/main" noGrp="1"/>
          </p:cNvSpPr>
          <p:nvPr/>
        </p:nvSpPr>
        <p:spPr>
          <a:xfrm xmlns:a="http://schemas.openxmlformats.org/drawingml/2006/main">
            <a:off x="11525250" y="33337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drivers</a:t>
            </a:r>
          </a:p>
        </p:txBody>
      </p:sp>
      <p:sp>
        <p:nvSpPr>
          <p:cNvPr id="10" name="maintenance_&#10;records">
            <a:extLst xmlns:a="http://schemas.openxmlformats.org/drawingml/2006/main">
              <a:ext uri="{FF2B5EF4-FFF2-40B4-BE49-F238E27FC236}">
                <a16:creationId xmlns:a16="http://schemas.microsoft.com/office/drawing/2014/main" id="{7257C4BD-E2B4-4C23-8859-209F6ACC573D}"/>
              </a:ext>
            </a:extLst>
          </p:cNvPr>
          <p:cNvSpPr>
            <a:spLocks xmlns:a="http://schemas.openxmlformats.org/drawingml/2006/main" noGrp="1"/>
          </p:cNvSpPr>
          <p:nvPr/>
        </p:nvSpPr>
        <p:spPr>
          <a:xfrm xmlns:a="http://schemas.openxmlformats.org/drawingml/2006/main">
            <a:off x="15049500" y="33337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025">
                <a:solidFill>
                  <a:srgbClr val="131313"/>
                </a:solidFill>
                <a:latin typeface="Nunito"/>
                <a:ea typeface="Nunito"/>
                <a:cs typeface="Nunito"/>
              </a:defRPr>
            </a:pPr>
            <a:r>
              <a:rPr sz="2025" b="1">
                <a:solidFill>
                  <a:srgbClr val="131313"/>
                </a:solidFill>
                <a:latin typeface="Nunito"/>
                <a:ea typeface="Nunito"/>
                <a:cs typeface="Nunito"/>
              </a:rPr>
              <a:t>maintenance_</a:t>
            </a:r>
          </a:p>
          <a:p xmlns:a="http://schemas.openxmlformats.org/drawingml/2006/main">
            <a:pPr algn="ctr">
              <a:buNone/>
              <a:defRPr sz="2025">
                <a:solidFill>
                  <a:srgbClr val="131313"/>
                </a:solidFill>
                <a:latin typeface="Nunito"/>
                <a:ea typeface="Nunito"/>
                <a:cs typeface="Nunito"/>
              </a:defRPr>
            </a:pPr>
            <a:r>
              <a:rPr sz="2025">
                <a:solidFill>
                  <a:srgbClr val="131313"/>
                </a:solidFill>
                <a:latin typeface="Nunito"/>
                <a:ea typeface="Nunito"/>
                <a:cs typeface="Nunito"/>
              </a:rPr>
              <a:t>records</a:t>
            </a:r>
          </a:p>
        </p:txBody>
      </p:sp>
      <p:sp>
        <p:nvSpPr>
          <p:cNvPr id="11" name="web_sessions">
            <a:extLst xmlns:a="http://schemas.openxmlformats.org/drawingml/2006/main">
              <a:ext uri="{FF2B5EF4-FFF2-40B4-BE49-F238E27FC236}">
                <a16:creationId xmlns:a16="http://schemas.microsoft.com/office/drawing/2014/main" id="{DA1368E6-5A0B-4343-A3B8-7A697B455F94}"/>
              </a:ext>
            </a:extLst>
          </p:cNvPr>
          <p:cNvSpPr>
            <a:spLocks xmlns:a="http://schemas.openxmlformats.org/drawingml/2006/main" noGrp="1"/>
          </p:cNvSpPr>
          <p:nvPr/>
        </p:nvSpPr>
        <p:spPr>
          <a:xfrm xmlns:a="http://schemas.openxmlformats.org/drawingml/2006/main">
            <a:off x="4476750" y="49530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web_sessions</a:t>
            </a:r>
            <a:endParaRPr sz="2100" b="1">
              <a:solidFill>
                <a:srgbClr val="131313"/>
              </a:solidFill>
              <a:latin typeface="Nunito"/>
              <a:ea typeface="Nunito"/>
              <a:cs typeface="Nunito"/>
            </a:endParaRPr>
          </a:p>
        </p:txBody>
      </p:sp>
      <p:sp>
        <p:nvSpPr>
          <p:cNvPr id="12" name="trips">
            <a:extLst xmlns:a="http://schemas.openxmlformats.org/drawingml/2006/main">
              <a:ext uri="{FF2B5EF4-FFF2-40B4-BE49-F238E27FC236}">
                <a16:creationId xmlns:a16="http://schemas.microsoft.com/office/drawing/2014/main" id="{4B19F72C-D83F-4639-9C34-65B142AD3349}"/>
              </a:ext>
            </a:extLst>
          </p:cNvPr>
          <p:cNvSpPr>
            <a:spLocks xmlns:a="http://schemas.openxmlformats.org/drawingml/2006/main" noGrp="1"/>
          </p:cNvSpPr>
          <p:nvPr/>
        </p:nvSpPr>
        <p:spPr>
          <a:xfrm xmlns:a="http://schemas.openxmlformats.org/drawingml/2006/main">
            <a:off x="8001000" y="49530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trips</a:t>
            </a:r>
          </a:p>
        </p:txBody>
      </p:sp>
      <p:sp>
        <p:nvSpPr>
          <p:cNvPr id="13" name="app_users">
            <a:extLst xmlns:a="http://schemas.openxmlformats.org/drawingml/2006/main">
              <a:ext uri="{FF2B5EF4-FFF2-40B4-BE49-F238E27FC236}">
                <a16:creationId xmlns:a16="http://schemas.microsoft.com/office/drawing/2014/main" id="{B38C5039-F56D-487C-966D-FC4DD71FEB8D}"/>
              </a:ext>
            </a:extLst>
          </p:cNvPr>
          <p:cNvSpPr>
            <a:spLocks xmlns:a="http://schemas.openxmlformats.org/drawingml/2006/main" noGrp="1"/>
          </p:cNvSpPr>
          <p:nvPr/>
        </p:nvSpPr>
        <p:spPr>
          <a:xfrm xmlns:a="http://schemas.openxmlformats.org/drawingml/2006/main">
            <a:off x="952500" y="66675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app_users</a:t>
            </a:r>
          </a:p>
        </p:txBody>
      </p:sp>
      <p:sp>
        <p:nvSpPr>
          <p:cNvPr id="14" name="passengers">
            <a:extLst xmlns:a="http://schemas.openxmlformats.org/drawingml/2006/main">
              <a:ext uri="{FF2B5EF4-FFF2-40B4-BE49-F238E27FC236}">
                <a16:creationId xmlns:a16="http://schemas.microsoft.com/office/drawing/2014/main" id="{160165C0-7A82-4464-BDE6-DA4BA954C3CC}"/>
              </a:ext>
            </a:extLst>
          </p:cNvPr>
          <p:cNvSpPr>
            <a:spLocks xmlns:a="http://schemas.openxmlformats.org/drawingml/2006/main" noGrp="1"/>
          </p:cNvSpPr>
          <p:nvPr/>
        </p:nvSpPr>
        <p:spPr>
          <a:xfrm xmlns:a="http://schemas.openxmlformats.org/drawingml/2006/main">
            <a:off x="4476750" y="66675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passengers</a:t>
            </a:r>
          </a:p>
        </p:txBody>
      </p:sp>
      <p:sp>
        <p:nvSpPr>
          <p:cNvPr id="15" name="bookings">
            <a:extLst xmlns:a="http://schemas.openxmlformats.org/drawingml/2006/main">
              <a:ext uri="{FF2B5EF4-FFF2-40B4-BE49-F238E27FC236}">
                <a16:creationId xmlns:a16="http://schemas.microsoft.com/office/drawing/2014/main" id="{3EF26907-385B-4046-AE4F-D83B608CEDAE}"/>
              </a:ext>
            </a:extLst>
          </p:cNvPr>
          <p:cNvSpPr>
            <a:spLocks xmlns:a="http://schemas.openxmlformats.org/drawingml/2006/main" noGrp="1"/>
          </p:cNvSpPr>
          <p:nvPr/>
        </p:nvSpPr>
        <p:spPr>
          <a:xfrm xmlns:a="http://schemas.openxmlformats.org/drawingml/2006/main">
            <a:off x="8001000" y="66675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bookings</a:t>
            </a:r>
          </a:p>
        </p:txBody>
      </p:sp>
      <p:sp>
        <p:nvSpPr>
          <p:cNvPr id="16" name="payments">
            <a:extLst xmlns:a="http://schemas.openxmlformats.org/drawingml/2006/main">
              <a:ext uri="{FF2B5EF4-FFF2-40B4-BE49-F238E27FC236}">
                <a16:creationId xmlns:a16="http://schemas.microsoft.com/office/drawing/2014/main" id="{65539EFF-5B1C-4E2E-8455-16C77F846F3B}"/>
              </a:ext>
            </a:extLst>
          </p:cNvPr>
          <p:cNvSpPr>
            <a:spLocks xmlns:a="http://schemas.openxmlformats.org/drawingml/2006/main" noGrp="1"/>
          </p:cNvSpPr>
          <p:nvPr/>
        </p:nvSpPr>
        <p:spPr>
          <a:xfrm xmlns:a="http://schemas.openxmlformats.org/drawingml/2006/main">
            <a:off x="11525250" y="66675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payments</a:t>
            </a:r>
          </a:p>
        </p:txBody>
      </p:sp>
      <p:sp>
        <p:nvSpPr>
          <p:cNvPr id="17" name="refunds">
            <a:extLst xmlns:a="http://schemas.openxmlformats.org/drawingml/2006/main">
              <a:ext uri="{FF2B5EF4-FFF2-40B4-BE49-F238E27FC236}">
                <a16:creationId xmlns:a16="http://schemas.microsoft.com/office/drawing/2014/main" id="{2139B7A3-E5B8-48E5-8F4E-C231F7DBC70A}"/>
              </a:ext>
            </a:extLst>
          </p:cNvPr>
          <p:cNvSpPr>
            <a:spLocks xmlns:a="http://schemas.openxmlformats.org/drawingml/2006/main" noGrp="1"/>
          </p:cNvSpPr>
          <p:nvPr/>
        </p:nvSpPr>
        <p:spPr>
          <a:xfrm xmlns:a="http://schemas.openxmlformats.org/drawingml/2006/main">
            <a:off x="15049500" y="66675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refunds</a:t>
            </a:r>
          </a:p>
        </p:txBody>
      </p:sp>
      <p:sp>
        <p:nvSpPr>
          <p:cNvPr id="18" name="web_admin_&#10;sessions">
            <a:extLst xmlns:a="http://schemas.openxmlformats.org/drawingml/2006/main">
              <a:ext uri="{FF2B5EF4-FFF2-40B4-BE49-F238E27FC236}">
                <a16:creationId xmlns:a16="http://schemas.microsoft.com/office/drawing/2014/main" id="{D2469D1E-1882-4F93-8E21-1390B35D68E2}"/>
              </a:ext>
            </a:extLst>
          </p:cNvPr>
          <p:cNvSpPr>
            <a:spLocks xmlns:a="http://schemas.openxmlformats.org/drawingml/2006/main" noGrp="1"/>
          </p:cNvSpPr>
          <p:nvPr/>
        </p:nvSpPr>
        <p:spPr>
          <a:xfrm xmlns:a="http://schemas.openxmlformats.org/drawingml/2006/main">
            <a:off x="952500" y="84772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025">
                <a:solidFill>
                  <a:srgbClr val="131313"/>
                </a:solidFill>
                <a:latin typeface="Nunito"/>
                <a:ea typeface="Nunito"/>
                <a:cs typeface="Nunito"/>
              </a:defRPr>
            </a:pPr>
            <a:r>
              <a:rPr sz="2025" b="1">
                <a:solidFill>
                  <a:srgbClr val="131313"/>
                </a:solidFill>
                <a:latin typeface="Nunito"/>
                <a:ea typeface="Nunito"/>
                <a:cs typeface="Nunito"/>
              </a:rPr>
              <a:t>web_admin_</a:t>
            </a:r>
          </a:p>
          <a:p xmlns:a="http://schemas.openxmlformats.org/drawingml/2006/main">
            <a:pPr algn="ctr">
              <a:buNone/>
              <a:defRPr sz="2025">
                <a:solidFill>
                  <a:srgbClr val="131313"/>
                </a:solidFill>
                <a:latin typeface="Nunito"/>
                <a:ea typeface="Nunito"/>
                <a:cs typeface="Nunito"/>
              </a:defRPr>
            </a:pPr>
            <a:r>
              <a:rPr sz="2025">
                <a:solidFill>
                  <a:srgbClr val="131313"/>
                </a:solidFill>
                <a:latin typeface="Nunito"/>
                <a:ea typeface="Nunito"/>
                <a:cs typeface="Nunito"/>
              </a:rPr>
              <a:t>sessions</a:t>
            </a:r>
          </a:p>
        </p:txBody>
      </p:sp>
      <p:sp>
        <p:nvSpPr>
          <p:cNvPr id="19" name="booking_status_&#10;history">
            <a:extLst xmlns:a="http://schemas.openxmlformats.org/drawingml/2006/main">
              <a:ext uri="{FF2B5EF4-FFF2-40B4-BE49-F238E27FC236}">
                <a16:creationId xmlns:a16="http://schemas.microsoft.com/office/drawing/2014/main" id="{3EEDF9F6-128F-404C-A37C-67D0368130C6}"/>
              </a:ext>
            </a:extLst>
          </p:cNvPr>
          <p:cNvSpPr>
            <a:spLocks xmlns:a="http://schemas.openxmlformats.org/drawingml/2006/main" noGrp="1"/>
          </p:cNvSpPr>
          <p:nvPr/>
        </p:nvSpPr>
        <p:spPr>
          <a:xfrm xmlns:a="http://schemas.openxmlformats.org/drawingml/2006/main">
            <a:off x="4476750" y="84772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025">
                <a:solidFill>
                  <a:srgbClr val="131313"/>
                </a:solidFill>
                <a:latin typeface="Nunito"/>
                <a:ea typeface="Nunito"/>
                <a:cs typeface="Nunito"/>
              </a:defRPr>
            </a:pPr>
            <a:r>
              <a:rPr sz="2025" b="1">
                <a:solidFill>
                  <a:srgbClr val="131313"/>
                </a:solidFill>
                <a:latin typeface="Nunito"/>
                <a:ea typeface="Nunito"/>
                <a:cs typeface="Nunito"/>
              </a:rPr>
              <a:t>booking_status_</a:t>
            </a:r>
          </a:p>
          <a:p xmlns:a="http://schemas.openxmlformats.org/drawingml/2006/main">
            <a:pPr algn="ctr">
              <a:buNone/>
              <a:defRPr sz="2025">
                <a:solidFill>
                  <a:srgbClr val="131313"/>
                </a:solidFill>
                <a:latin typeface="Nunito"/>
                <a:ea typeface="Nunito"/>
                <a:cs typeface="Nunito"/>
              </a:defRPr>
            </a:pPr>
            <a:r>
              <a:rPr sz="2025">
                <a:solidFill>
                  <a:srgbClr val="131313"/>
                </a:solidFill>
                <a:latin typeface="Nunito"/>
                <a:ea typeface="Nunito"/>
                <a:cs typeface="Nunito"/>
              </a:rPr>
              <a:t>history</a:t>
            </a:r>
          </a:p>
        </p:txBody>
      </p:sp>
      <p:sp>
        <p:nvSpPr>
          <p:cNvPr id="20" name="tickets">
            <a:extLst xmlns:a="http://schemas.openxmlformats.org/drawingml/2006/main">
              <a:ext uri="{FF2B5EF4-FFF2-40B4-BE49-F238E27FC236}">
                <a16:creationId xmlns:a16="http://schemas.microsoft.com/office/drawing/2014/main" id="{415103C1-0F00-4D2F-81EF-7746AFE84E24}"/>
              </a:ext>
            </a:extLst>
          </p:cNvPr>
          <p:cNvSpPr>
            <a:spLocks xmlns:a="http://schemas.openxmlformats.org/drawingml/2006/main" noGrp="1"/>
          </p:cNvSpPr>
          <p:nvPr/>
        </p:nvSpPr>
        <p:spPr>
          <a:xfrm xmlns:a="http://schemas.openxmlformats.org/drawingml/2006/main">
            <a:off x="8001000" y="84772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100">
                <a:solidFill>
                  <a:srgbClr val="131313"/>
                </a:solidFill>
                <a:latin typeface="Nunito"/>
                <a:ea typeface="Nunito"/>
                <a:cs typeface="Nunito"/>
              </a:defRPr>
            </a:pPr>
            <a:r>
              <a:rPr sz="2100" b="1">
                <a:solidFill>
                  <a:srgbClr val="131313"/>
                </a:solidFill>
                <a:latin typeface="Nunito"/>
                <a:ea typeface="Nunito"/>
                <a:cs typeface="Nunito"/>
              </a:rPr>
              <a:t>tickets</a:t>
            </a:r>
          </a:p>
        </p:txBody>
      </p:sp>
      <p:sp>
        <p:nvSpPr>
          <p:cNvPr id="21" name="feedback_records">
            <a:extLst xmlns:a="http://schemas.openxmlformats.org/drawingml/2006/main">
              <a:ext uri="{FF2B5EF4-FFF2-40B4-BE49-F238E27FC236}">
                <a16:creationId xmlns:a16="http://schemas.microsoft.com/office/drawing/2014/main" id="{DF193195-6813-4CB4-9A5B-6C85173C61A2}"/>
              </a:ext>
            </a:extLst>
          </p:cNvPr>
          <p:cNvSpPr>
            <a:spLocks xmlns:a="http://schemas.openxmlformats.org/drawingml/2006/main" noGrp="1"/>
          </p:cNvSpPr>
          <p:nvPr/>
        </p:nvSpPr>
        <p:spPr>
          <a:xfrm xmlns:a="http://schemas.openxmlformats.org/drawingml/2006/main">
            <a:off x="11525250" y="847725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2025">
                <a:solidFill>
                  <a:srgbClr val="131313"/>
                </a:solidFill>
                <a:latin typeface="Nunito"/>
                <a:ea typeface="Nunito"/>
                <a:cs typeface="Nunito"/>
              </a:defRPr>
            </a:pPr>
            <a:r>
              <a:rPr sz="2025" b="1">
                <a:solidFill>
                  <a:srgbClr val="131313"/>
                </a:solidFill>
                <a:latin typeface="Nunito"/>
                <a:ea typeface="Nunito"/>
                <a:cs typeface="Nunito"/>
              </a:rPr>
              <a:t>feedback_records</a:t>
            </a:r>
          </a:p>
        </p:txBody>
      </p:sp>
      <p:sp>
        <p:nvSpPr>
          <p:cNvPr id="22" name="ER relationship">
            <a:extLst xmlns:a="http://schemas.openxmlformats.org/drawingml/2006/main">
              <a:ext uri="{FF2B5EF4-FFF2-40B4-BE49-F238E27FC236}">
                <a16:creationId xmlns:a16="http://schemas.microsoft.com/office/drawing/2014/main" id="{2637A9A9-C189-46A2-BBA9-3C8A85707CD1}"/>
              </a:ext>
            </a:extLst>
          </p:cNvPr>
          <p:cNvSpPr>
            <a:spLocks xmlns:a="http://schemas.openxmlformats.org/drawingml/2006/main" noGrp="1"/>
          </p:cNvSpPr>
          <p:nvPr/>
        </p:nvSpPr>
        <p:spPr>
          <a:xfrm xmlns:a="http://schemas.openxmlformats.org/drawingml/2006/main">
            <a:off x="2238375" y="7524750"/>
            <a:ext cx="9525" cy="952500"/>
          </a:xfrm>
          <a:custGeom xmlns:a="http://schemas.openxmlformats.org/drawingml/2006/main">
            <a:rect l="0" t="0" r="0" b="0"/>
            <a:pathLst>
              <a:path w="9525" h="952500">
                <a:moveTo>
                  <a:pt x="0" y="0"/>
                </a:moveTo>
                <a:lnTo>
                  <a:pt x="0" y="95250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23" name="1 : 0..N">
            <a:extLst xmlns:a="http://schemas.openxmlformats.org/drawingml/2006/main">
              <a:ext uri="{FF2B5EF4-FFF2-40B4-BE49-F238E27FC236}">
                <a16:creationId xmlns:a16="http://schemas.microsoft.com/office/drawing/2014/main" id="{D1D13D0D-D5E7-49B8-8DC3-A41BC371A281}"/>
              </a:ext>
            </a:extLst>
          </p:cNvPr>
          <p:cNvSpPr>
            <a:spLocks xmlns:a="http://schemas.openxmlformats.org/drawingml/2006/main" noGrp="1"/>
          </p:cNvSpPr>
          <p:nvPr/>
        </p:nvSpPr>
        <p:spPr>
          <a:xfrm xmlns:a="http://schemas.openxmlformats.org/drawingml/2006/main">
            <a:off x="2333625" y="7867650"/>
            <a:ext cx="133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24" name="ER relationship">
            <a:extLst xmlns:a="http://schemas.openxmlformats.org/drawingml/2006/main">
              <a:ext uri="{FF2B5EF4-FFF2-40B4-BE49-F238E27FC236}">
                <a16:creationId xmlns:a16="http://schemas.microsoft.com/office/drawing/2014/main" id="{891ADAC1-BB3D-4922-B9D5-DD0AEA8CA853}"/>
              </a:ext>
            </a:extLst>
          </p:cNvPr>
          <p:cNvSpPr>
            <a:spLocks xmlns:a="http://schemas.openxmlformats.org/drawingml/2006/main" noGrp="1"/>
          </p:cNvSpPr>
          <p:nvPr/>
        </p:nvSpPr>
        <p:spPr>
          <a:xfrm xmlns:a="http://schemas.openxmlformats.org/drawingml/2006/main">
            <a:off x="3524250" y="7096125"/>
            <a:ext cx="952500" cy="9525"/>
          </a:xfrm>
          <a:custGeom xmlns:a="http://schemas.openxmlformats.org/drawingml/2006/main">
            <a:rect l="0" t="0" r="0" b="0"/>
            <a:pathLst>
              <a:path w="952500" h="9525">
                <a:moveTo>
                  <a:pt x="0" y="0"/>
                </a:moveTo>
                <a:lnTo>
                  <a:pt x="952500" y="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25" name="1 : 0..1">
            <a:extLst xmlns:a="http://schemas.openxmlformats.org/drawingml/2006/main">
              <a:ext uri="{FF2B5EF4-FFF2-40B4-BE49-F238E27FC236}">
                <a16:creationId xmlns:a16="http://schemas.microsoft.com/office/drawing/2014/main" id="{3AD8C86B-3F41-4F61-90E3-B0BABF38C134}"/>
              </a:ext>
            </a:extLst>
          </p:cNvPr>
          <p:cNvSpPr>
            <a:spLocks xmlns:a="http://schemas.openxmlformats.org/drawingml/2006/main" noGrp="1"/>
          </p:cNvSpPr>
          <p:nvPr/>
        </p:nvSpPr>
        <p:spPr>
          <a:xfrm xmlns:a="http://schemas.openxmlformats.org/drawingml/2006/main">
            <a:off x="3552825" y="6762750"/>
            <a:ext cx="895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0..1</a:t>
            </a:r>
          </a:p>
        </p:txBody>
      </p:sp>
      <p:sp>
        <p:nvSpPr>
          <p:cNvPr id="26" name="ER relationship">
            <a:extLst xmlns:a="http://schemas.openxmlformats.org/drawingml/2006/main">
              <a:ext uri="{FF2B5EF4-FFF2-40B4-BE49-F238E27FC236}">
                <a16:creationId xmlns:a16="http://schemas.microsoft.com/office/drawing/2014/main" id="{37854432-4276-4777-9FAE-ED23B6BC824F}"/>
              </a:ext>
            </a:extLst>
          </p:cNvPr>
          <p:cNvSpPr>
            <a:spLocks xmlns:a="http://schemas.openxmlformats.org/drawingml/2006/main" noGrp="1"/>
          </p:cNvSpPr>
          <p:nvPr/>
        </p:nvSpPr>
        <p:spPr>
          <a:xfrm xmlns:a="http://schemas.openxmlformats.org/drawingml/2006/main">
            <a:off x="5762625" y="5810250"/>
            <a:ext cx="9525" cy="857250"/>
          </a:xfrm>
          <a:custGeom xmlns:a="http://schemas.openxmlformats.org/drawingml/2006/main">
            <a:rect l="0" t="0" r="0" b="0"/>
            <a:pathLst>
              <a:path w="9525" h="857250">
                <a:moveTo>
                  <a:pt x="0" y="857250"/>
                </a:moveTo>
                <a:lnTo>
                  <a:pt x="0" y="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27" name="1 : 0..N">
            <a:extLst xmlns:a="http://schemas.openxmlformats.org/drawingml/2006/main">
              <a:ext uri="{FF2B5EF4-FFF2-40B4-BE49-F238E27FC236}">
                <a16:creationId xmlns:a16="http://schemas.microsoft.com/office/drawing/2014/main" id="{1EB254CE-5336-4F56-9D7F-697F16BCCAD1}"/>
              </a:ext>
            </a:extLst>
          </p:cNvPr>
          <p:cNvSpPr>
            <a:spLocks xmlns:a="http://schemas.openxmlformats.org/drawingml/2006/main" noGrp="1"/>
          </p:cNvSpPr>
          <p:nvPr/>
        </p:nvSpPr>
        <p:spPr>
          <a:xfrm xmlns:a="http://schemas.openxmlformats.org/drawingml/2006/main">
            <a:off x="5876925" y="6143625"/>
            <a:ext cx="133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28" name="ER relationship">
            <a:extLst xmlns:a="http://schemas.openxmlformats.org/drawingml/2006/main">
              <a:ext uri="{FF2B5EF4-FFF2-40B4-BE49-F238E27FC236}">
                <a16:creationId xmlns:a16="http://schemas.microsoft.com/office/drawing/2014/main" id="{6FF69949-E99D-45DD-9EBD-E5E801FFABEF}"/>
              </a:ext>
            </a:extLst>
          </p:cNvPr>
          <p:cNvSpPr>
            <a:spLocks xmlns:a="http://schemas.openxmlformats.org/drawingml/2006/main" noGrp="1"/>
          </p:cNvSpPr>
          <p:nvPr/>
        </p:nvSpPr>
        <p:spPr>
          <a:xfrm xmlns:a="http://schemas.openxmlformats.org/drawingml/2006/main">
            <a:off x="7048500" y="7096125"/>
            <a:ext cx="952500" cy="9525"/>
          </a:xfrm>
          <a:custGeom xmlns:a="http://schemas.openxmlformats.org/drawingml/2006/main">
            <a:rect l="0" t="0" r="0" b="0"/>
            <a:pathLst>
              <a:path w="952500" h="9525">
                <a:moveTo>
                  <a:pt x="0" y="0"/>
                </a:moveTo>
                <a:lnTo>
                  <a:pt x="952500" y="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29" name="1 : 0..N">
            <a:extLst xmlns:a="http://schemas.openxmlformats.org/drawingml/2006/main">
              <a:ext uri="{FF2B5EF4-FFF2-40B4-BE49-F238E27FC236}">
                <a16:creationId xmlns:a16="http://schemas.microsoft.com/office/drawing/2014/main" id="{AD2D218F-15CB-4A93-8214-EF61E95B1A75}"/>
              </a:ext>
            </a:extLst>
          </p:cNvPr>
          <p:cNvSpPr>
            <a:spLocks xmlns:a="http://schemas.openxmlformats.org/drawingml/2006/main" noGrp="1"/>
          </p:cNvSpPr>
          <p:nvPr/>
        </p:nvSpPr>
        <p:spPr>
          <a:xfrm xmlns:a="http://schemas.openxmlformats.org/drawingml/2006/main">
            <a:off x="7067550" y="6762750"/>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30" name="ER relationship">
            <a:extLst xmlns:a="http://schemas.openxmlformats.org/drawingml/2006/main">
              <a:ext uri="{FF2B5EF4-FFF2-40B4-BE49-F238E27FC236}">
                <a16:creationId xmlns:a16="http://schemas.microsoft.com/office/drawing/2014/main" id="{011C9B0A-9D5A-4AA5-B2F5-D2C868311B00}"/>
              </a:ext>
            </a:extLst>
          </p:cNvPr>
          <p:cNvSpPr>
            <a:spLocks xmlns:a="http://schemas.openxmlformats.org/drawingml/2006/main" noGrp="1"/>
          </p:cNvSpPr>
          <p:nvPr/>
        </p:nvSpPr>
        <p:spPr>
          <a:xfrm xmlns:a="http://schemas.openxmlformats.org/drawingml/2006/main">
            <a:off x="5762625" y="4191000"/>
            <a:ext cx="2809875" cy="762000"/>
          </a:xfrm>
          <a:custGeom xmlns:a="http://schemas.openxmlformats.org/drawingml/2006/main">
            <a:rect l="0" t="0" r="0" b="0"/>
            <a:pathLst>
              <a:path w="2809875" h="762000">
                <a:moveTo>
                  <a:pt x="0" y="0"/>
                </a:moveTo>
                <a:lnTo>
                  <a:pt x="0" y="419100"/>
                </a:lnTo>
                <a:lnTo>
                  <a:pt x="2809875" y="419100"/>
                </a:lnTo>
                <a:lnTo>
                  <a:pt x="2809875" y="76200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31" name="1 : 0..N">
            <a:extLst xmlns:a="http://schemas.openxmlformats.org/drawingml/2006/main">
              <a:ext uri="{FF2B5EF4-FFF2-40B4-BE49-F238E27FC236}">
                <a16:creationId xmlns:a16="http://schemas.microsoft.com/office/drawing/2014/main" id="{413A9B67-0AE9-4133-901B-015CC59DFEDD}"/>
              </a:ext>
            </a:extLst>
          </p:cNvPr>
          <p:cNvSpPr>
            <a:spLocks xmlns:a="http://schemas.openxmlformats.org/drawingml/2006/main" noGrp="1"/>
          </p:cNvSpPr>
          <p:nvPr/>
        </p:nvSpPr>
        <p:spPr>
          <a:xfrm xmlns:a="http://schemas.openxmlformats.org/drawingml/2006/main">
            <a:off x="6667500" y="4267200"/>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32" name="ER relationship">
            <a:extLst xmlns:a="http://schemas.openxmlformats.org/drawingml/2006/main">
              <a:ext uri="{FF2B5EF4-FFF2-40B4-BE49-F238E27FC236}">
                <a16:creationId xmlns:a16="http://schemas.microsoft.com/office/drawing/2014/main" id="{E19CE973-9906-4813-9064-7338CC170172}"/>
              </a:ext>
            </a:extLst>
          </p:cNvPr>
          <p:cNvSpPr>
            <a:spLocks xmlns:a="http://schemas.openxmlformats.org/drawingml/2006/main" noGrp="1"/>
          </p:cNvSpPr>
          <p:nvPr/>
        </p:nvSpPr>
        <p:spPr>
          <a:xfrm xmlns:a="http://schemas.openxmlformats.org/drawingml/2006/main">
            <a:off x="9286875" y="4191000"/>
            <a:ext cx="9525" cy="762000"/>
          </a:xfrm>
          <a:custGeom xmlns:a="http://schemas.openxmlformats.org/drawingml/2006/main">
            <a:rect l="0" t="0" r="0" b="0"/>
            <a:pathLst>
              <a:path w="9525" h="762000">
                <a:moveTo>
                  <a:pt x="0" y="0"/>
                </a:moveTo>
                <a:lnTo>
                  <a:pt x="0" y="76200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33" name="1 : 0..N">
            <a:extLst xmlns:a="http://schemas.openxmlformats.org/drawingml/2006/main">
              <a:ext uri="{FF2B5EF4-FFF2-40B4-BE49-F238E27FC236}">
                <a16:creationId xmlns:a16="http://schemas.microsoft.com/office/drawing/2014/main" id="{9375AC48-581D-41EA-AE2D-7E639510AE97}"/>
              </a:ext>
            </a:extLst>
          </p:cNvPr>
          <p:cNvSpPr>
            <a:spLocks xmlns:a="http://schemas.openxmlformats.org/drawingml/2006/main" noGrp="1"/>
          </p:cNvSpPr>
          <p:nvPr/>
        </p:nvSpPr>
        <p:spPr>
          <a:xfrm xmlns:a="http://schemas.openxmlformats.org/drawingml/2006/main">
            <a:off x="8191500" y="459105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34" name="ER relationship">
            <a:extLst xmlns:a="http://schemas.openxmlformats.org/drawingml/2006/main">
              <a:ext uri="{FF2B5EF4-FFF2-40B4-BE49-F238E27FC236}">
                <a16:creationId xmlns:a16="http://schemas.microsoft.com/office/drawing/2014/main" id="{D230ADD4-7427-425A-8087-78AF4D02BAEC}"/>
              </a:ext>
            </a:extLst>
          </p:cNvPr>
          <p:cNvSpPr>
            <a:spLocks xmlns:a="http://schemas.openxmlformats.org/drawingml/2006/main" noGrp="1"/>
          </p:cNvSpPr>
          <p:nvPr/>
        </p:nvSpPr>
        <p:spPr>
          <a:xfrm xmlns:a="http://schemas.openxmlformats.org/drawingml/2006/main">
            <a:off x="9906000" y="4191000"/>
            <a:ext cx="2905125" cy="762000"/>
          </a:xfrm>
          <a:custGeom xmlns:a="http://schemas.openxmlformats.org/drawingml/2006/main">
            <a:rect l="0" t="0" r="0" b="0"/>
            <a:pathLst>
              <a:path w="2905125" h="762000">
                <a:moveTo>
                  <a:pt x="2905125" y="0"/>
                </a:moveTo>
                <a:lnTo>
                  <a:pt x="2905125" y="438150"/>
                </a:lnTo>
                <a:lnTo>
                  <a:pt x="0" y="438150"/>
                </a:lnTo>
                <a:lnTo>
                  <a:pt x="0" y="76200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35" name="1 : 0..N">
            <a:extLst xmlns:a="http://schemas.openxmlformats.org/drawingml/2006/main">
              <a:ext uri="{FF2B5EF4-FFF2-40B4-BE49-F238E27FC236}">
                <a16:creationId xmlns:a16="http://schemas.microsoft.com/office/drawing/2014/main" id="{961B8378-524A-46EB-9CDE-E5516BBAE55E}"/>
              </a:ext>
            </a:extLst>
          </p:cNvPr>
          <p:cNvSpPr>
            <a:spLocks xmlns:a="http://schemas.openxmlformats.org/drawingml/2006/main" noGrp="1"/>
          </p:cNvSpPr>
          <p:nvPr/>
        </p:nvSpPr>
        <p:spPr>
          <a:xfrm xmlns:a="http://schemas.openxmlformats.org/drawingml/2006/main">
            <a:off x="11001375" y="4276725"/>
            <a:ext cx="1476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36" name="ER relationship">
            <a:extLst xmlns:a="http://schemas.openxmlformats.org/drawingml/2006/main">
              <a:ext uri="{FF2B5EF4-FFF2-40B4-BE49-F238E27FC236}">
                <a16:creationId xmlns:a16="http://schemas.microsoft.com/office/drawing/2014/main" id="{81424967-46AB-4B7E-B5E5-3EDE0989F1DD}"/>
              </a:ext>
            </a:extLst>
          </p:cNvPr>
          <p:cNvSpPr>
            <a:spLocks xmlns:a="http://schemas.openxmlformats.org/drawingml/2006/main" noGrp="1"/>
          </p:cNvSpPr>
          <p:nvPr/>
        </p:nvSpPr>
        <p:spPr>
          <a:xfrm xmlns:a="http://schemas.openxmlformats.org/drawingml/2006/main">
            <a:off x="9286875" y="3133725"/>
            <a:ext cx="7048500" cy="200025"/>
          </a:xfrm>
          <a:custGeom xmlns:a="http://schemas.openxmlformats.org/drawingml/2006/main">
            <a:rect l="0" t="0" r="0" b="0"/>
            <a:pathLst>
              <a:path w="7048500" h="200025">
                <a:moveTo>
                  <a:pt x="0" y="200025"/>
                </a:moveTo>
                <a:lnTo>
                  <a:pt x="0" y="0"/>
                </a:lnTo>
                <a:lnTo>
                  <a:pt x="7048500" y="0"/>
                </a:lnTo>
                <a:lnTo>
                  <a:pt x="7048500" y="200025"/>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37" name="1 : 0..N">
            <a:extLst xmlns:a="http://schemas.openxmlformats.org/drawingml/2006/main">
              <a:ext uri="{FF2B5EF4-FFF2-40B4-BE49-F238E27FC236}">
                <a16:creationId xmlns:a16="http://schemas.microsoft.com/office/drawing/2014/main" id="{952E47E3-FBE3-466A-8D6D-A98A54AFAAD6}"/>
              </a:ext>
            </a:extLst>
          </p:cNvPr>
          <p:cNvSpPr>
            <a:spLocks xmlns:a="http://schemas.openxmlformats.org/drawingml/2006/main" noGrp="1"/>
          </p:cNvSpPr>
          <p:nvPr/>
        </p:nvSpPr>
        <p:spPr>
          <a:xfrm xmlns:a="http://schemas.openxmlformats.org/drawingml/2006/main">
            <a:off x="14811375" y="2857500"/>
            <a:ext cx="200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38" name="ER relationship">
            <a:extLst xmlns:a="http://schemas.openxmlformats.org/drawingml/2006/main">
              <a:ext uri="{FF2B5EF4-FFF2-40B4-BE49-F238E27FC236}">
                <a16:creationId xmlns:a16="http://schemas.microsoft.com/office/drawing/2014/main" id="{89749F12-261E-4199-9552-B7A0BFE30BCC}"/>
              </a:ext>
            </a:extLst>
          </p:cNvPr>
          <p:cNvSpPr>
            <a:spLocks xmlns:a="http://schemas.openxmlformats.org/drawingml/2006/main" noGrp="1"/>
          </p:cNvSpPr>
          <p:nvPr/>
        </p:nvSpPr>
        <p:spPr>
          <a:xfrm xmlns:a="http://schemas.openxmlformats.org/drawingml/2006/main">
            <a:off x="9286875" y="5810250"/>
            <a:ext cx="9525" cy="857250"/>
          </a:xfrm>
          <a:custGeom xmlns:a="http://schemas.openxmlformats.org/drawingml/2006/main">
            <a:rect l="0" t="0" r="0" b="0"/>
            <a:pathLst>
              <a:path w="9525" h="857250">
                <a:moveTo>
                  <a:pt x="0" y="0"/>
                </a:moveTo>
                <a:lnTo>
                  <a:pt x="0" y="85725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39" name="1 : 0..N">
            <a:extLst xmlns:a="http://schemas.openxmlformats.org/drawingml/2006/main">
              <a:ext uri="{FF2B5EF4-FFF2-40B4-BE49-F238E27FC236}">
                <a16:creationId xmlns:a16="http://schemas.microsoft.com/office/drawing/2014/main" id="{A02C3503-3817-4AC6-8DA9-89632E2CC6AE}"/>
              </a:ext>
            </a:extLst>
          </p:cNvPr>
          <p:cNvSpPr>
            <a:spLocks xmlns:a="http://schemas.openxmlformats.org/drawingml/2006/main" noGrp="1"/>
          </p:cNvSpPr>
          <p:nvPr/>
        </p:nvSpPr>
        <p:spPr>
          <a:xfrm xmlns:a="http://schemas.openxmlformats.org/drawingml/2006/main">
            <a:off x="9382125" y="61436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40" name="ER relationship">
            <a:extLst xmlns:a="http://schemas.openxmlformats.org/drawingml/2006/main">
              <a:ext uri="{FF2B5EF4-FFF2-40B4-BE49-F238E27FC236}">
                <a16:creationId xmlns:a16="http://schemas.microsoft.com/office/drawing/2014/main" id="{7EAEFF44-A0BB-406D-9F22-CEF2283851D5}"/>
              </a:ext>
            </a:extLst>
          </p:cNvPr>
          <p:cNvSpPr>
            <a:spLocks xmlns:a="http://schemas.openxmlformats.org/drawingml/2006/main" noGrp="1"/>
          </p:cNvSpPr>
          <p:nvPr/>
        </p:nvSpPr>
        <p:spPr>
          <a:xfrm xmlns:a="http://schemas.openxmlformats.org/drawingml/2006/main">
            <a:off x="10572750" y="7096125"/>
            <a:ext cx="952500" cy="9525"/>
          </a:xfrm>
          <a:custGeom xmlns:a="http://schemas.openxmlformats.org/drawingml/2006/main">
            <a:rect l="0" t="0" r="0" b="0"/>
            <a:pathLst>
              <a:path w="952500" h="9525">
                <a:moveTo>
                  <a:pt x="0" y="0"/>
                </a:moveTo>
                <a:lnTo>
                  <a:pt x="952500" y="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41" name="1 : 0..1">
            <a:extLst xmlns:a="http://schemas.openxmlformats.org/drawingml/2006/main">
              <a:ext uri="{FF2B5EF4-FFF2-40B4-BE49-F238E27FC236}">
                <a16:creationId xmlns:a16="http://schemas.microsoft.com/office/drawing/2014/main" id="{F2A461C2-F591-48C9-86B8-3C015ED9366B}"/>
              </a:ext>
            </a:extLst>
          </p:cNvPr>
          <p:cNvSpPr>
            <a:spLocks xmlns:a="http://schemas.openxmlformats.org/drawingml/2006/main" noGrp="1"/>
          </p:cNvSpPr>
          <p:nvPr/>
        </p:nvSpPr>
        <p:spPr>
          <a:xfrm xmlns:a="http://schemas.openxmlformats.org/drawingml/2006/main">
            <a:off x="10601325" y="6762750"/>
            <a:ext cx="895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0..1</a:t>
            </a:r>
          </a:p>
        </p:txBody>
      </p:sp>
      <p:sp>
        <p:nvSpPr>
          <p:cNvPr id="42" name="ER relationship">
            <a:extLst xmlns:a="http://schemas.openxmlformats.org/drawingml/2006/main">
              <a:ext uri="{FF2B5EF4-FFF2-40B4-BE49-F238E27FC236}">
                <a16:creationId xmlns:a16="http://schemas.microsoft.com/office/drawing/2014/main" id="{F0627658-A639-4793-B2EE-052698D9762A}"/>
              </a:ext>
            </a:extLst>
          </p:cNvPr>
          <p:cNvSpPr>
            <a:spLocks xmlns:a="http://schemas.openxmlformats.org/drawingml/2006/main" noGrp="1"/>
          </p:cNvSpPr>
          <p:nvPr/>
        </p:nvSpPr>
        <p:spPr>
          <a:xfrm xmlns:a="http://schemas.openxmlformats.org/drawingml/2006/main">
            <a:off x="14097000" y="7096125"/>
            <a:ext cx="952500" cy="9525"/>
          </a:xfrm>
          <a:custGeom xmlns:a="http://schemas.openxmlformats.org/drawingml/2006/main">
            <a:rect l="0" t="0" r="0" b="0"/>
            <a:pathLst>
              <a:path w="952500" h="9525">
                <a:moveTo>
                  <a:pt x="0" y="0"/>
                </a:moveTo>
                <a:lnTo>
                  <a:pt x="952500" y="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43" name="1 : 0..1">
            <a:extLst xmlns:a="http://schemas.openxmlformats.org/drawingml/2006/main">
              <a:ext uri="{FF2B5EF4-FFF2-40B4-BE49-F238E27FC236}">
                <a16:creationId xmlns:a16="http://schemas.microsoft.com/office/drawing/2014/main" id="{92818345-5C4E-42C5-B4EE-44EFB8FB2F6E}"/>
              </a:ext>
            </a:extLst>
          </p:cNvPr>
          <p:cNvSpPr>
            <a:spLocks xmlns:a="http://schemas.openxmlformats.org/drawingml/2006/main" noGrp="1"/>
          </p:cNvSpPr>
          <p:nvPr/>
        </p:nvSpPr>
        <p:spPr>
          <a:xfrm xmlns:a="http://schemas.openxmlformats.org/drawingml/2006/main">
            <a:off x="14125575" y="6762750"/>
            <a:ext cx="895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0..1</a:t>
            </a:r>
          </a:p>
        </p:txBody>
      </p:sp>
      <p:sp>
        <p:nvSpPr>
          <p:cNvPr id="44" name="ER relationship">
            <a:extLst xmlns:a="http://schemas.openxmlformats.org/drawingml/2006/main">
              <a:ext uri="{FF2B5EF4-FFF2-40B4-BE49-F238E27FC236}">
                <a16:creationId xmlns:a16="http://schemas.microsoft.com/office/drawing/2014/main" id="{CEDAB9AF-E9D3-4123-9B2F-D459E36A4A11}"/>
              </a:ext>
            </a:extLst>
          </p:cNvPr>
          <p:cNvSpPr>
            <a:spLocks xmlns:a="http://schemas.openxmlformats.org/drawingml/2006/main" noGrp="1"/>
          </p:cNvSpPr>
          <p:nvPr/>
        </p:nvSpPr>
        <p:spPr>
          <a:xfrm xmlns:a="http://schemas.openxmlformats.org/drawingml/2006/main">
            <a:off x="9286875" y="7524750"/>
            <a:ext cx="9525" cy="952500"/>
          </a:xfrm>
          <a:custGeom xmlns:a="http://schemas.openxmlformats.org/drawingml/2006/main">
            <a:rect l="0" t="0" r="0" b="0"/>
            <a:pathLst>
              <a:path w="9525" h="952500">
                <a:moveTo>
                  <a:pt x="0" y="0"/>
                </a:moveTo>
                <a:lnTo>
                  <a:pt x="0" y="95250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45" name="1 : 0..N">
            <a:extLst xmlns:a="http://schemas.openxmlformats.org/drawingml/2006/main">
              <a:ext uri="{FF2B5EF4-FFF2-40B4-BE49-F238E27FC236}">
                <a16:creationId xmlns:a16="http://schemas.microsoft.com/office/drawing/2014/main" id="{1A73A001-6578-4159-943F-340BB15C86C6}"/>
              </a:ext>
            </a:extLst>
          </p:cNvPr>
          <p:cNvSpPr>
            <a:spLocks xmlns:a="http://schemas.openxmlformats.org/drawingml/2006/main" noGrp="1"/>
          </p:cNvSpPr>
          <p:nvPr/>
        </p:nvSpPr>
        <p:spPr>
          <a:xfrm xmlns:a="http://schemas.openxmlformats.org/drawingml/2006/main">
            <a:off x="9391650" y="81438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46" name="ER relationship">
            <a:extLst xmlns:a="http://schemas.openxmlformats.org/drawingml/2006/main">
              <a:ext uri="{FF2B5EF4-FFF2-40B4-BE49-F238E27FC236}">
                <a16:creationId xmlns:a16="http://schemas.microsoft.com/office/drawing/2014/main" id="{77916F92-667E-458B-8EDE-683C6069BB76}"/>
              </a:ext>
            </a:extLst>
          </p:cNvPr>
          <p:cNvSpPr>
            <a:spLocks xmlns:a="http://schemas.openxmlformats.org/drawingml/2006/main" noGrp="1"/>
          </p:cNvSpPr>
          <p:nvPr/>
        </p:nvSpPr>
        <p:spPr>
          <a:xfrm xmlns:a="http://schemas.openxmlformats.org/drawingml/2006/main">
            <a:off x="5762625" y="7524750"/>
            <a:ext cx="3190875" cy="952500"/>
          </a:xfrm>
          <a:custGeom xmlns:a="http://schemas.openxmlformats.org/drawingml/2006/main">
            <a:rect l="0" t="0" r="0" b="0"/>
            <a:pathLst>
              <a:path w="3190875" h="952500">
                <a:moveTo>
                  <a:pt x="3190875" y="0"/>
                </a:moveTo>
                <a:lnTo>
                  <a:pt x="3190875" y="428625"/>
                </a:lnTo>
                <a:lnTo>
                  <a:pt x="0" y="428625"/>
                </a:lnTo>
                <a:lnTo>
                  <a:pt x="0" y="95250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47" name="1 : 0..N">
            <a:extLst xmlns:a="http://schemas.openxmlformats.org/drawingml/2006/main">
              <a:ext uri="{FF2B5EF4-FFF2-40B4-BE49-F238E27FC236}">
                <a16:creationId xmlns:a16="http://schemas.microsoft.com/office/drawing/2014/main" id="{7C6FAF00-18A3-40BA-846B-618E0E4A6A30}"/>
              </a:ext>
            </a:extLst>
          </p:cNvPr>
          <p:cNvSpPr>
            <a:spLocks xmlns:a="http://schemas.openxmlformats.org/drawingml/2006/main" noGrp="1"/>
          </p:cNvSpPr>
          <p:nvPr/>
        </p:nvSpPr>
        <p:spPr>
          <a:xfrm xmlns:a="http://schemas.openxmlformats.org/drawingml/2006/main">
            <a:off x="6429375" y="75723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48" name="ER relationship">
            <a:extLst xmlns:a="http://schemas.openxmlformats.org/drawingml/2006/main">
              <a:ext uri="{FF2B5EF4-FFF2-40B4-BE49-F238E27FC236}">
                <a16:creationId xmlns:a16="http://schemas.microsoft.com/office/drawing/2014/main" id="{9DFBAEF0-D002-41C7-A597-38835EABF879}"/>
              </a:ext>
            </a:extLst>
          </p:cNvPr>
          <p:cNvSpPr>
            <a:spLocks xmlns:a="http://schemas.openxmlformats.org/drawingml/2006/main" noGrp="1"/>
          </p:cNvSpPr>
          <p:nvPr/>
        </p:nvSpPr>
        <p:spPr>
          <a:xfrm xmlns:a="http://schemas.openxmlformats.org/drawingml/2006/main">
            <a:off x="9572625" y="7524750"/>
            <a:ext cx="3238500" cy="952500"/>
          </a:xfrm>
          <a:custGeom xmlns:a="http://schemas.openxmlformats.org/drawingml/2006/main">
            <a:rect l="0" t="0" r="0" b="0"/>
            <a:pathLst>
              <a:path w="3238500" h="952500">
                <a:moveTo>
                  <a:pt x="0" y="0"/>
                </a:moveTo>
                <a:lnTo>
                  <a:pt x="0" y="428625"/>
                </a:lnTo>
                <a:lnTo>
                  <a:pt x="3238500" y="428625"/>
                </a:lnTo>
                <a:lnTo>
                  <a:pt x="3238500" y="952500"/>
                </a:lnTo>
              </a:path>
            </a:pathLst>
          </a:custGeom>
          <a:noFill xmlns:a="http://schemas.openxmlformats.org/drawingml/2006/main"/>
          <a:ln xmlns:a="http://schemas.openxmlformats.org/drawingml/2006/main" w="19050">
            <a:solidFill>
              <a:srgbClr val="FF3300"/>
            </a:solidFill>
          </a:ln>
        </p:spPr>
        <p:txBody>
          <a:bodyPr xmlns:a="http://schemas.openxmlformats.org/drawingml/2006/main"/>
          <a:lstStyle xmlns:a="http://schemas.openxmlformats.org/drawingml/2006/main"/>
          <a:p xmlns:a="http://schemas.openxmlformats.org/drawingml/2006/main">
            <a:endParaRPr/>
          </a:p>
        </p:txBody>
      </p:sp>
      <p:sp>
        <p:nvSpPr>
          <p:cNvPr id="49" name="1 : 0..N">
            <a:extLst xmlns:a="http://schemas.openxmlformats.org/drawingml/2006/main">
              <a:ext uri="{FF2B5EF4-FFF2-40B4-BE49-F238E27FC236}">
                <a16:creationId xmlns:a16="http://schemas.microsoft.com/office/drawing/2014/main" id="{3C3BC1B0-6982-4492-8ECC-9F1B9786F20E}"/>
              </a:ext>
            </a:extLst>
          </p:cNvPr>
          <p:cNvSpPr>
            <a:spLocks xmlns:a="http://schemas.openxmlformats.org/drawingml/2006/main" noGrp="1"/>
          </p:cNvSpPr>
          <p:nvPr/>
        </p:nvSpPr>
        <p:spPr>
          <a:xfrm xmlns:a="http://schemas.openxmlformats.org/drawingml/2006/main">
            <a:off x="11096625" y="75723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FF3300"/>
                </a:solidFill>
                <a:latin typeface="Nunito"/>
                <a:ea typeface="Nunito"/>
                <a:cs typeface="Nunito"/>
              </a:defRPr>
            </a:pPr>
            <a:r>
              <a:rPr sz="1650" b="0">
                <a:solidFill>
                  <a:srgbClr val="FF3300"/>
                </a:solidFill>
                <a:latin typeface="Nunito"/>
                <a:ea typeface="Nunito"/>
                <a:cs typeface="Nunito"/>
              </a:rPr>
              <a:t>1 : 0..N</a:t>
            </a:r>
          </a:p>
        </p:txBody>
      </p:sp>
      <p:sp>
        <p:nvSpPr>
          <p:cNvPr id="50" name="Labels show one parent and the permitted number of">
            <a:extLst xmlns:a="http://schemas.openxmlformats.org/drawingml/2006/main">
              <a:ext uri="{FF2B5EF4-FFF2-40B4-BE49-F238E27FC236}">
                <a16:creationId xmlns:a16="http://schemas.microsoft.com/office/drawing/2014/main" id="{54E05F9E-A01D-4F95-8F5C-408EBE65C9C4}"/>
              </a:ext>
            </a:extLst>
          </p:cNvPr>
          <p:cNvSpPr>
            <a:spLocks xmlns:a="http://schemas.openxmlformats.org/drawingml/2006/main" noGrp="1"/>
          </p:cNvSpPr>
          <p:nvPr/>
        </p:nvSpPr>
        <p:spPr>
          <a:xfrm xmlns:a="http://schemas.openxmlformats.org/drawingml/2006/main">
            <a:off x="1047750" y="9525000"/>
            <a:ext cx="1466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4E4E4E"/>
                </a:solidFill>
                <a:latin typeface="Nunito"/>
                <a:ea typeface="Nunito"/>
                <a:cs typeface="Nunito"/>
              </a:defRPr>
            </a:pPr>
            <a:r>
              <a:rPr sz="1875" b="0">
                <a:solidFill>
                  <a:srgbClr val="4E4E4E"/>
                </a:solidFill>
                <a:latin typeface="Nunito"/>
                <a:ea typeface="Nunito"/>
                <a:cs typeface="Nunito"/>
              </a:rPr>
              <a:t>Labels show one parent and the permitted number of child records.</a:t>
            </a:r>
          </a:p>
        </p:txBody>
      </p:sp>
    </p:spTree>
    <p:extLst>
      <p:ext uri="{BB962C8B-B14F-4D97-AF65-F5344CB8AC3E}">
        <p14:creationId xmlns:p14="http://schemas.microsoft.com/office/powerpoint/2010/main" val="1343618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MARTMOVE  DATA MANAGEMENT 2">
            <a:extLst xmlns:a="http://schemas.openxmlformats.org/drawingml/2006/main">
              <a:ext uri="{FF2B5EF4-FFF2-40B4-BE49-F238E27FC236}">
                <a16:creationId xmlns:a16="http://schemas.microsoft.com/office/drawing/2014/main" id="{8FF22706-EAC3-4C4D-9845-4AA5EA3635E2}"/>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9FEB373F-F2B3-4D86-9E81-4476874A4DB7}"/>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Oracle and PL/SQL">
            <a:extLst xmlns:a="http://schemas.openxmlformats.org/drawingml/2006/main">
              <a:ext uri="{FF2B5EF4-FFF2-40B4-BE49-F238E27FC236}">
                <a16:creationId xmlns:a16="http://schemas.microsoft.com/office/drawing/2014/main" id="{3925A14C-6D62-4A56-88B3-BBD37659DAA3}"/>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Oracle and PL/SQL</a:t>
            </a:r>
          </a:p>
        </p:txBody>
      </p:sp>
      <p:sp>
        <p:nvSpPr>
          <p:cNvPr id="4" name="05 / 12">
            <a:extLst xmlns:a="http://schemas.openxmlformats.org/drawingml/2006/main">
              <a:ext uri="{FF2B5EF4-FFF2-40B4-BE49-F238E27FC236}">
                <a16:creationId xmlns:a16="http://schemas.microsoft.com/office/drawing/2014/main" id="{B8953A37-FD83-4084-9768-89C72DC9946F}"/>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05 / 12</a:t>
            </a:r>
          </a:p>
        </p:txBody>
      </p:sp>
      <p:sp>
        <p:nvSpPr>
          <p:cNvPr id="5" name="01">
            <a:extLst xmlns:a="http://schemas.openxmlformats.org/drawingml/2006/main">
              <a:ext uri="{FF2B5EF4-FFF2-40B4-BE49-F238E27FC236}">
                <a16:creationId xmlns:a16="http://schemas.microsoft.com/office/drawing/2014/main" id="{ECA021BC-2A8C-4F38-8C44-E3EF6743AFDD}"/>
              </a:ext>
            </a:extLst>
          </p:cNvPr>
          <p:cNvSpPr>
            <a:spLocks xmlns:a="http://schemas.openxmlformats.org/drawingml/2006/main" noGrp="1"/>
          </p:cNvSpPr>
          <p:nvPr/>
        </p:nvSpPr>
        <p:spPr>
          <a:xfrm xmlns:a="http://schemas.openxmlformats.org/drawingml/2006/main">
            <a:off x="1047750" y="3714750"/>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01</a:t>
            </a:r>
          </a:p>
        </p:txBody>
      </p:sp>
      <p:sp>
        <p:nvSpPr>
          <p:cNvPr id="6" name="Procedures + function">
            <a:extLst xmlns:a="http://schemas.openxmlformats.org/drawingml/2006/main">
              <a:ext uri="{FF2B5EF4-FFF2-40B4-BE49-F238E27FC236}">
                <a16:creationId xmlns:a16="http://schemas.microsoft.com/office/drawing/2014/main" id="{D6692649-5C8D-40A6-B188-A8B885F74C3F}"/>
              </a:ext>
            </a:extLst>
          </p:cNvPr>
          <p:cNvSpPr>
            <a:spLocks xmlns:a="http://schemas.openxmlformats.org/drawingml/2006/main" noGrp="1"/>
          </p:cNvSpPr>
          <p:nvPr/>
        </p:nvSpPr>
        <p:spPr>
          <a:xfrm xmlns:a="http://schemas.openxmlformats.org/drawingml/2006/main">
            <a:off x="1047750" y="4876800"/>
            <a:ext cx="4810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Procedures + function</a:t>
            </a:r>
          </a:p>
        </p:txBody>
      </p:sp>
      <p:sp>
        <p:nvSpPr>
          <p:cNvPr id="7" name="Booking operations&#10;Available seats">
            <a:extLst xmlns:a="http://schemas.openxmlformats.org/drawingml/2006/main">
              <a:ext uri="{FF2B5EF4-FFF2-40B4-BE49-F238E27FC236}">
                <a16:creationId xmlns:a16="http://schemas.microsoft.com/office/drawing/2014/main" id="{E127197B-32D0-4D5B-9E03-4BA92C90F127}"/>
              </a:ext>
            </a:extLst>
          </p:cNvPr>
          <p:cNvSpPr>
            <a:spLocks xmlns:a="http://schemas.openxmlformats.org/drawingml/2006/main" noGrp="1"/>
          </p:cNvSpPr>
          <p:nvPr/>
        </p:nvSpPr>
        <p:spPr>
          <a:xfrm xmlns:a="http://schemas.openxmlformats.org/drawingml/2006/main">
            <a:off x="1047750" y="6334125"/>
            <a:ext cx="4810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Booking operations</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Available seats</a:t>
            </a:r>
          </a:p>
        </p:txBody>
      </p:sp>
      <p:sp>
        <p:nvSpPr>
          <p:cNvPr id="8" name="02">
            <a:extLst xmlns:a="http://schemas.openxmlformats.org/drawingml/2006/main">
              <a:ext uri="{FF2B5EF4-FFF2-40B4-BE49-F238E27FC236}">
                <a16:creationId xmlns:a16="http://schemas.microsoft.com/office/drawing/2014/main" id="{EBC44B8D-26C3-4B91-9BD8-54A23F56B220}"/>
              </a:ext>
            </a:extLst>
          </p:cNvPr>
          <p:cNvSpPr>
            <a:spLocks xmlns:a="http://schemas.openxmlformats.org/drawingml/2006/main" noGrp="1"/>
          </p:cNvSpPr>
          <p:nvPr/>
        </p:nvSpPr>
        <p:spPr>
          <a:xfrm xmlns:a="http://schemas.openxmlformats.org/drawingml/2006/main">
            <a:off x="6715125"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02</a:t>
            </a:r>
          </a:p>
        </p:txBody>
      </p:sp>
      <p:sp>
        <p:nvSpPr>
          <p:cNvPr id="9" name="Cursors">
            <a:extLst xmlns:a="http://schemas.openxmlformats.org/drawingml/2006/main">
              <a:ext uri="{FF2B5EF4-FFF2-40B4-BE49-F238E27FC236}">
                <a16:creationId xmlns:a16="http://schemas.microsoft.com/office/drawing/2014/main" id="{51B894B4-9CA2-4903-8C90-4BFF34ADD12A}"/>
              </a:ext>
            </a:extLst>
          </p:cNvPr>
          <p:cNvSpPr>
            <a:spLocks xmlns:a="http://schemas.openxmlformats.org/drawingml/2006/main" noGrp="1"/>
          </p:cNvSpPr>
          <p:nvPr/>
        </p:nvSpPr>
        <p:spPr>
          <a:xfrm xmlns:a="http://schemas.openxmlformats.org/drawingml/2006/main">
            <a:off x="6715125"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Cursors</a:t>
            </a:r>
          </a:p>
        </p:txBody>
      </p:sp>
      <p:sp>
        <p:nvSpPr>
          <p:cNvPr id="10" name="Five business reports">
            <a:extLst xmlns:a="http://schemas.openxmlformats.org/drawingml/2006/main">
              <a:ext uri="{FF2B5EF4-FFF2-40B4-BE49-F238E27FC236}">
                <a16:creationId xmlns:a16="http://schemas.microsoft.com/office/drawing/2014/main" id="{6BD7419C-F990-4BC5-BBCD-166E2BC11703}"/>
              </a:ext>
            </a:extLst>
          </p:cNvPr>
          <p:cNvSpPr>
            <a:spLocks xmlns:a="http://schemas.openxmlformats.org/drawingml/2006/main" noGrp="1"/>
          </p:cNvSpPr>
          <p:nvPr/>
        </p:nvSpPr>
        <p:spPr>
          <a:xfrm xmlns:a="http://schemas.openxmlformats.org/drawingml/2006/main">
            <a:off x="6715125"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Five business reports</a:t>
            </a:r>
          </a:p>
        </p:txBody>
      </p:sp>
      <p:sp>
        <p:nvSpPr>
          <p:cNvPr id="11" name="03">
            <a:extLst xmlns:a="http://schemas.openxmlformats.org/drawingml/2006/main">
              <a:ext uri="{FF2B5EF4-FFF2-40B4-BE49-F238E27FC236}">
                <a16:creationId xmlns:a16="http://schemas.microsoft.com/office/drawing/2014/main" id="{2419A8F7-6279-454E-B348-9FD08C3B6D96}"/>
              </a:ext>
            </a:extLst>
          </p:cNvPr>
          <p:cNvSpPr>
            <a:spLocks xmlns:a="http://schemas.openxmlformats.org/drawingml/2006/main" noGrp="1"/>
          </p:cNvSpPr>
          <p:nvPr/>
        </p:nvSpPr>
        <p:spPr>
          <a:xfrm xmlns:a="http://schemas.openxmlformats.org/drawingml/2006/main">
            <a:off x="12382500"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03</a:t>
            </a:r>
          </a:p>
        </p:txBody>
      </p:sp>
      <p:sp>
        <p:nvSpPr>
          <p:cNvPr id="12" name="Trigger + exceptions">
            <a:extLst xmlns:a="http://schemas.openxmlformats.org/drawingml/2006/main">
              <a:ext uri="{FF2B5EF4-FFF2-40B4-BE49-F238E27FC236}">
                <a16:creationId xmlns:a16="http://schemas.microsoft.com/office/drawing/2014/main" id="{81556923-1601-49C7-8A37-B846A79F2BAF}"/>
              </a:ext>
            </a:extLst>
          </p:cNvPr>
          <p:cNvSpPr>
            <a:spLocks xmlns:a="http://schemas.openxmlformats.org/drawingml/2006/main" noGrp="1"/>
          </p:cNvSpPr>
          <p:nvPr/>
        </p:nvSpPr>
        <p:spPr>
          <a:xfrm xmlns:a="http://schemas.openxmlformats.org/drawingml/2006/main">
            <a:off x="12382500"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Trigger + exceptions</a:t>
            </a:r>
          </a:p>
        </p:txBody>
      </p:sp>
      <p:sp>
        <p:nvSpPr>
          <p:cNvPr id="13" name="Booking history&#10;Validation and errors">
            <a:extLst xmlns:a="http://schemas.openxmlformats.org/drawingml/2006/main">
              <a:ext uri="{FF2B5EF4-FFF2-40B4-BE49-F238E27FC236}">
                <a16:creationId xmlns:a16="http://schemas.microsoft.com/office/drawing/2014/main" id="{F53074FD-39AC-4E99-A28D-342AAB8B9499}"/>
              </a:ext>
            </a:extLst>
          </p:cNvPr>
          <p:cNvSpPr>
            <a:spLocks xmlns:a="http://schemas.openxmlformats.org/drawingml/2006/main" noGrp="1"/>
          </p:cNvSpPr>
          <p:nvPr/>
        </p:nvSpPr>
        <p:spPr>
          <a:xfrm xmlns:a="http://schemas.openxmlformats.org/drawingml/2006/main">
            <a:off x="12382500"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Booking history</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Validation and errors</a:t>
            </a:r>
          </a:p>
        </p:txBody>
      </p:sp>
      <p:sp>
        <p:nvSpPr>
          <p:cNvPr id="14" name="Keys and constraints protect the relationships.">
            <a:extLst xmlns:a="http://schemas.openxmlformats.org/drawingml/2006/main">
              <a:ext uri="{FF2B5EF4-FFF2-40B4-BE49-F238E27FC236}">
                <a16:creationId xmlns:a16="http://schemas.microsoft.com/office/drawing/2014/main" id="{AE4DFF77-ADA9-4C75-BE40-E6A02FCF25CC}"/>
              </a:ext>
            </a:extLst>
          </p:cNvPr>
          <p:cNvSpPr>
            <a:spLocks xmlns:a="http://schemas.openxmlformats.org/drawingml/2006/main" noGrp="1"/>
          </p:cNvSpPr>
          <p:nvPr/>
        </p:nvSpPr>
        <p:spPr>
          <a:xfrm xmlns:a="http://schemas.openxmlformats.org/drawingml/2006/main">
            <a:off x="1047750" y="9086850"/>
            <a:ext cx="1571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FF3300"/>
                </a:solidFill>
                <a:latin typeface="Nunito"/>
                <a:ea typeface="Nunito"/>
                <a:cs typeface="Nunito"/>
              </a:defRPr>
            </a:pPr>
            <a:r>
              <a:rPr sz="2850" b="0">
                <a:solidFill>
                  <a:srgbClr val="FF3300"/>
                </a:solidFill>
                <a:latin typeface="Nunito"/>
                <a:ea typeface="Nunito"/>
                <a:cs typeface="Nunito"/>
              </a:rPr>
              <a:t>Keys and constraints protect the relationships.</a:t>
            </a:r>
          </a:p>
        </p:txBody>
      </p:sp>
    </p:spTree>
    <p:extLst>
      <p:ext uri="{BB962C8B-B14F-4D97-AF65-F5344CB8AC3E}">
        <p14:creationId xmlns:p14="http://schemas.microsoft.com/office/powerpoint/2010/main" val="20315883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MARTMOVE  DATA MANAGEMENT 2">
            <a:extLst xmlns:a="http://schemas.openxmlformats.org/drawingml/2006/main">
              <a:ext uri="{FF2B5EF4-FFF2-40B4-BE49-F238E27FC236}">
                <a16:creationId xmlns:a16="http://schemas.microsoft.com/office/drawing/2014/main" id="{76F51EA9-B825-4EF8-87BE-29E127FAA05B}"/>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DF1CBBF2-BBB1-4712-8625-CEACFF227EE7}"/>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Booking lifecycle">
            <a:extLst xmlns:a="http://schemas.openxmlformats.org/drawingml/2006/main">
              <a:ext uri="{FF2B5EF4-FFF2-40B4-BE49-F238E27FC236}">
                <a16:creationId xmlns:a16="http://schemas.microsoft.com/office/drawing/2014/main" id="{FEA1E49E-3249-41DB-9E08-97204932EC58}"/>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Booking lifecycle</a:t>
            </a:r>
          </a:p>
        </p:txBody>
      </p:sp>
      <p:sp>
        <p:nvSpPr>
          <p:cNvPr id="4" name="06 / 12">
            <a:extLst xmlns:a="http://schemas.openxmlformats.org/drawingml/2006/main">
              <a:ext uri="{FF2B5EF4-FFF2-40B4-BE49-F238E27FC236}">
                <a16:creationId xmlns:a16="http://schemas.microsoft.com/office/drawing/2014/main" id="{9C8B1433-E4C1-41AC-84B5-8BEB2542C295}"/>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06 / 12</a:t>
            </a:r>
          </a:p>
        </p:txBody>
      </p:sp>
      <p:sp>
        <p:nvSpPr>
          <p:cNvPr id="5" name="PENDING&#10;Reserved seats">
            <a:extLst xmlns:a="http://schemas.openxmlformats.org/drawingml/2006/main">
              <a:ext uri="{FF2B5EF4-FFF2-40B4-BE49-F238E27FC236}">
                <a16:creationId xmlns:a16="http://schemas.microsoft.com/office/drawing/2014/main" id="{B32FE420-B3BF-47DF-B6E6-626D458A587F}"/>
              </a:ext>
            </a:extLst>
          </p:cNvPr>
          <p:cNvSpPr>
            <a:spLocks xmlns:a="http://schemas.openxmlformats.org/drawingml/2006/main" noGrp="1"/>
          </p:cNvSpPr>
          <p:nvPr/>
        </p:nvSpPr>
        <p:spPr>
          <a:xfrm xmlns:a="http://schemas.openxmlformats.org/drawingml/2006/main">
            <a:off x="1047750" y="4286250"/>
            <a:ext cx="4114185" cy="152400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3375">
                <a:solidFill>
                  <a:srgbClr val="131313"/>
                </a:solidFill>
                <a:latin typeface="Nunito"/>
                <a:ea typeface="Nunito"/>
                <a:cs typeface="Nunito"/>
              </a:defRPr>
            </a:pPr>
            <a:r>
              <a:rPr sz="3375" b="1">
                <a:solidFill>
                  <a:srgbClr val="131313"/>
                </a:solidFill>
                <a:latin typeface="Nunito"/>
                <a:ea typeface="Nunito"/>
                <a:cs typeface="Nunito"/>
              </a:rPr>
              <a:t>PENDING</a:t>
            </a:r>
          </a:p>
          <a:p xmlns:a="http://schemas.openxmlformats.org/drawingml/2006/main">
            <a:pPr algn="ctr">
              <a:buNone/>
              <a:defRPr sz="3375">
                <a:solidFill>
                  <a:srgbClr val="131313"/>
                </a:solidFill>
                <a:latin typeface="Nunito"/>
                <a:ea typeface="Nunito"/>
                <a:cs typeface="Nunito"/>
              </a:defRPr>
            </a:pPr>
            <a:r>
              <a:rPr sz="3375">
                <a:solidFill>
                  <a:srgbClr val="131313"/>
                </a:solidFill>
                <a:latin typeface="Nunito"/>
                <a:ea typeface="Nunito"/>
                <a:cs typeface="Nunito"/>
              </a:rPr>
              <a:t>Reserved seats</a:t>
            </a:r>
          </a:p>
        </p:txBody>
      </p:sp>
      <p:sp>
        <p:nvSpPr>
          <p:cNvPr id="6" name="CONFIRMED&#10;Issued tickets">
            <a:extLst xmlns:a="http://schemas.openxmlformats.org/drawingml/2006/main">
              <a:ext uri="{FF2B5EF4-FFF2-40B4-BE49-F238E27FC236}">
                <a16:creationId xmlns:a16="http://schemas.microsoft.com/office/drawing/2014/main" id="{FC2C240A-DA29-46D4-9D44-4E1AE74D9E89}"/>
              </a:ext>
            </a:extLst>
          </p:cNvPr>
          <p:cNvSpPr>
            <a:spLocks xmlns:a="http://schemas.openxmlformats.org/drawingml/2006/main" noGrp="1"/>
          </p:cNvSpPr>
          <p:nvPr/>
        </p:nvSpPr>
        <p:spPr>
          <a:xfrm xmlns:a="http://schemas.openxmlformats.org/drawingml/2006/main">
            <a:off x="7123471" y="4286250"/>
            <a:ext cx="4114185" cy="152400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3375">
                <a:solidFill>
                  <a:srgbClr val="131313"/>
                </a:solidFill>
                <a:latin typeface="Nunito"/>
                <a:ea typeface="Nunito"/>
                <a:cs typeface="Nunito"/>
              </a:defRPr>
            </a:pPr>
            <a:r>
              <a:rPr sz="3375" b="1">
                <a:solidFill>
                  <a:srgbClr val="131313"/>
                </a:solidFill>
                <a:latin typeface="Nunito"/>
                <a:ea typeface="Nunito"/>
                <a:cs typeface="Nunito"/>
              </a:rPr>
              <a:t>CONFIRMED</a:t>
            </a:r>
          </a:p>
          <a:p xmlns:a="http://schemas.openxmlformats.org/drawingml/2006/main">
            <a:pPr algn="ctr">
              <a:buNone/>
              <a:defRPr sz="3375">
                <a:solidFill>
                  <a:srgbClr val="131313"/>
                </a:solidFill>
                <a:latin typeface="Nunito"/>
                <a:ea typeface="Nunito"/>
                <a:cs typeface="Nunito"/>
              </a:defRPr>
            </a:pPr>
            <a:r>
              <a:rPr sz="3375">
                <a:solidFill>
                  <a:srgbClr val="131313"/>
                </a:solidFill>
                <a:latin typeface="Nunito"/>
                <a:ea typeface="Nunito"/>
                <a:cs typeface="Nunito"/>
              </a:rPr>
              <a:t>Issued tickets</a:t>
            </a:r>
          </a:p>
        </p:txBody>
      </p:sp>
      <p:sp>
        <p:nvSpPr>
          <p:cNvPr id="7" name="CANCELLED&#10;Released seats">
            <a:extLst xmlns:a="http://schemas.openxmlformats.org/drawingml/2006/main">
              <a:ext uri="{FF2B5EF4-FFF2-40B4-BE49-F238E27FC236}">
                <a16:creationId xmlns:a16="http://schemas.microsoft.com/office/drawing/2014/main" id="{105D4397-AA08-4A9C-A673-406DC3DE779A}"/>
              </a:ext>
            </a:extLst>
          </p:cNvPr>
          <p:cNvSpPr>
            <a:spLocks xmlns:a="http://schemas.openxmlformats.org/drawingml/2006/main" noGrp="1"/>
          </p:cNvSpPr>
          <p:nvPr/>
        </p:nvSpPr>
        <p:spPr>
          <a:xfrm xmlns:a="http://schemas.openxmlformats.org/drawingml/2006/main">
            <a:off x="12668250" y="4286250"/>
            <a:ext cx="4667250" cy="152400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3375">
                <a:solidFill>
                  <a:srgbClr val="131313"/>
                </a:solidFill>
                <a:latin typeface="Nunito"/>
                <a:ea typeface="Nunito"/>
                <a:cs typeface="Nunito"/>
              </a:defRPr>
            </a:pPr>
            <a:r>
              <a:rPr sz="3375" b="1">
                <a:solidFill>
                  <a:srgbClr val="131313"/>
                </a:solidFill>
                <a:latin typeface="Nunito"/>
                <a:ea typeface="Nunito"/>
                <a:cs typeface="Nunito"/>
              </a:rPr>
              <a:t>CANCELLED</a:t>
            </a:r>
          </a:p>
          <a:p xmlns:a="http://schemas.openxmlformats.org/drawingml/2006/main">
            <a:pPr algn="ctr">
              <a:buNone/>
              <a:defRPr sz="3375">
                <a:solidFill>
                  <a:srgbClr val="131313"/>
                </a:solidFill>
                <a:latin typeface="Nunito"/>
                <a:ea typeface="Nunito"/>
                <a:cs typeface="Nunito"/>
              </a:defRPr>
            </a:pPr>
            <a:r>
              <a:rPr sz="3375">
                <a:solidFill>
                  <a:srgbClr val="131313"/>
                </a:solidFill>
                <a:latin typeface="Nunito"/>
                <a:ea typeface="Nunito"/>
                <a:cs typeface="Nunito"/>
              </a:rPr>
              <a:t>Released seats</a:t>
            </a:r>
          </a:p>
        </p:txBody>
      </p:sp>
      <p:cxnSp>
        <p:nvCxnSpPr>
          <p:cNvPr id="31"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5161935" y="5048250"/>
            <a:ext cx="1961536" cy="0"/>
          </a:xfrm>
          <a:prstGeom xmlns:a="http://schemas.openxmlformats.org/drawingml/2006/main" prst="straightConnector1">
            <a:avLst/>
          </a:prstGeom>
          <a:ln xmlns:a="http://schemas.openxmlformats.org/drawingml/2006/main" w="28575">
            <a:solidFill>
              <a:srgbClr val="FF3300"/>
            </a:solidFill>
            <a:tailEnd type="triangle" w="med" len="med"/>
          </a:ln>
        </p:spPr>
      </p:cxnSp>
      <p:cxnSp>
        <p:nvCxnSpPr>
          <p:cNvPr id="32"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11237656" y="5048250"/>
            <a:ext cx="1430594" cy="0"/>
          </a:xfrm>
          <a:prstGeom xmlns:a="http://schemas.openxmlformats.org/drawingml/2006/main" prst="straightConnector1">
            <a:avLst/>
          </a:prstGeom>
          <a:ln xmlns:a="http://schemas.openxmlformats.org/drawingml/2006/main" w="28575">
            <a:solidFill>
              <a:srgbClr val="FF3300"/>
            </a:solidFill>
            <a:tailEnd type="triangle" w="med" len="med"/>
          </a:ln>
        </p:spPr>
      </p:cxnSp>
      <p:sp>
        <p:nvSpPr>
          <p:cNvPr id="10" name="Payment">
            <a:extLst xmlns:a="http://schemas.openxmlformats.org/drawingml/2006/main">
              <a:ext uri="{FF2B5EF4-FFF2-40B4-BE49-F238E27FC236}">
                <a16:creationId xmlns:a16="http://schemas.microsoft.com/office/drawing/2014/main" id="{D1794446-86BE-42ED-B336-65026B40231E}"/>
              </a:ext>
            </a:extLst>
          </p:cNvPr>
          <p:cNvSpPr>
            <a:spLocks xmlns:a="http://schemas.openxmlformats.org/drawingml/2006/main" noGrp="1"/>
          </p:cNvSpPr>
          <p:nvPr/>
        </p:nvSpPr>
        <p:spPr>
          <a:xfrm xmlns:a="http://schemas.openxmlformats.org/drawingml/2006/main">
            <a:off x="5447992" y="4619625"/>
            <a:ext cx="1076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950" b="0">
                <a:solidFill>
                  <a:srgbClr val="FF3300"/>
                </a:solidFill>
                <a:latin typeface="Nunito"/>
                <a:ea typeface="Nunito"/>
                <a:cs typeface="Nunito"/>
              </a:defRPr>
            </a:pPr>
            <a:r>
              <a:rPr sz="1950" b="0">
                <a:solidFill>
                  <a:srgbClr val="FF3300"/>
                </a:solidFill>
                <a:latin typeface="Nunito"/>
                <a:ea typeface="Nunito"/>
                <a:cs typeface="Nunito"/>
              </a:rPr>
              <a:t>Payment</a:t>
            </a:r>
          </a:p>
        </p:txBody>
      </p:sp>
      <p:sp>
        <p:nvSpPr>
          <p:cNvPr id="11" name="Cancel">
            <a:extLst xmlns:a="http://schemas.openxmlformats.org/drawingml/2006/main">
              <a:ext uri="{FF2B5EF4-FFF2-40B4-BE49-F238E27FC236}">
                <a16:creationId xmlns:a16="http://schemas.microsoft.com/office/drawing/2014/main" id="{07E00FC3-C0C9-4872-8E8D-BB8734836703}"/>
              </a:ext>
            </a:extLst>
          </p:cNvPr>
          <p:cNvSpPr>
            <a:spLocks xmlns:a="http://schemas.openxmlformats.org/drawingml/2006/main" noGrp="1"/>
          </p:cNvSpPr>
          <p:nvPr/>
        </p:nvSpPr>
        <p:spPr>
          <a:xfrm xmlns:a="http://schemas.openxmlformats.org/drawingml/2006/main">
            <a:off x="11376690" y="4619625"/>
            <a:ext cx="11525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950" b="0">
                <a:solidFill>
                  <a:srgbClr val="FF3300"/>
                </a:solidFill>
                <a:latin typeface="Nunito"/>
                <a:ea typeface="Nunito"/>
                <a:cs typeface="Nunito"/>
              </a:defRPr>
            </a:pPr>
            <a:r>
              <a:rPr sz="1950" b="0">
                <a:solidFill>
                  <a:srgbClr val="FF3300"/>
                </a:solidFill>
                <a:latin typeface="Nunito"/>
                <a:ea typeface="Nunito"/>
                <a:cs typeface="Nunito"/>
              </a:rPr>
              <a:t>Cancel</a:t>
            </a:r>
          </a:p>
        </p:txBody>
      </p:sp>
      <p:sp>
        <p:nvSpPr>
          <p:cNvPr id="12" name="30-minute seat hold">
            <a:extLst xmlns:a="http://schemas.openxmlformats.org/drawingml/2006/main">
              <a:ext uri="{FF2B5EF4-FFF2-40B4-BE49-F238E27FC236}">
                <a16:creationId xmlns:a16="http://schemas.microsoft.com/office/drawing/2014/main" id="{D679486D-1B0B-4B39-9129-10CE4E81ED5D}"/>
              </a:ext>
            </a:extLst>
          </p:cNvPr>
          <p:cNvSpPr>
            <a:spLocks xmlns:a="http://schemas.openxmlformats.org/drawingml/2006/main" noGrp="1"/>
          </p:cNvSpPr>
          <p:nvPr/>
        </p:nvSpPr>
        <p:spPr>
          <a:xfrm xmlns:a="http://schemas.openxmlformats.org/drawingml/2006/main">
            <a:off x="1047750" y="7239000"/>
            <a:ext cx="723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825" b="1">
                <a:solidFill>
                  <a:srgbClr val="131313"/>
                </a:solidFill>
                <a:latin typeface="Archivo"/>
                <a:ea typeface="Archivo"/>
                <a:cs typeface="Archivo"/>
              </a:defRPr>
            </a:pPr>
            <a:r>
              <a:rPr sz="3825" b="1">
                <a:solidFill>
                  <a:srgbClr val="131313"/>
                </a:solidFill>
                <a:latin typeface="Poppins"/>
                <a:ea typeface="Poppins"/>
                <a:cs typeface="Poppins"/>
              </a:rPr>
              <a:t>30-minute seat hold</a:t>
            </a:r>
          </a:p>
        </p:txBody>
      </p:sp>
      <p:sp>
        <p:nvSpPr>
          <p:cNvPr id="13" name="Paid cancellation records a full refund">
            <a:extLst xmlns:a="http://schemas.openxmlformats.org/drawingml/2006/main">
              <a:ext uri="{FF2B5EF4-FFF2-40B4-BE49-F238E27FC236}">
                <a16:creationId xmlns:a16="http://schemas.microsoft.com/office/drawing/2014/main" id="{E49BC7BA-B1DF-4640-8DC2-84B57DD2364E}"/>
              </a:ext>
            </a:extLst>
          </p:cNvPr>
          <p:cNvSpPr>
            <a:spLocks xmlns:a="http://schemas.openxmlformats.org/drawingml/2006/main" noGrp="1"/>
          </p:cNvSpPr>
          <p:nvPr/>
        </p:nvSpPr>
        <p:spPr>
          <a:xfrm xmlns:a="http://schemas.openxmlformats.org/drawingml/2006/main">
            <a:off x="7580671" y="7239000"/>
            <a:ext cx="9564329"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75" b="1">
                <a:solidFill>
                  <a:srgbClr val="131313"/>
                </a:solidFill>
                <a:latin typeface="Archivo"/>
                <a:ea typeface="Archivo"/>
                <a:cs typeface="Archivo"/>
              </a:defRPr>
            </a:pPr>
            <a:r>
              <a:rPr sz="3830" b="1">
                <a:solidFill>
                  <a:srgbClr val="131313"/>
                </a:solidFill>
                <a:latin typeface="Poppins"/>
                <a:ea typeface="Poppins"/>
                <a:cs typeface="Poppins"/>
              </a:rPr>
              <a:t>Paid cancellation records a full refund</a:t>
            </a:r>
          </a:p>
        </p:txBody>
      </p:sp>
      <p:sp>
        <p:nvSpPr>
          <p:cNvPr id="14" name="ADMIN records payments. Actual refund payouts occu">
            <a:extLst xmlns:a="http://schemas.openxmlformats.org/drawingml/2006/main">
              <a:ext uri="{FF2B5EF4-FFF2-40B4-BE49-F238E27FC236}">
                <a16:creationId xmlns:a16="http://schemas.microsoft.com/office/drawing/2014/main" id="{09683E6D-8202-40C2-9529-61F9C080E27D}"/>
              </a:ext>
            </a:extLst>
          </p:cNvPr>
          <p:cNvSpPr>
            <a:spLocks xmlns:a="http://schemas.openxmlformats.org/drawingml/2006/main" noGrp="1"/>
          </p:cNvSpPr>
          <p:nvPr/>
        </p:nvSpPr>
        <p:spPr>
          <a:xfrm xmlns:a="http://schemas.openxmlformats.org/drawingml/2006/main">
            <a:off x="1047750" y="9058275"/>
            <a:ext cx="1595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4E4E4E"/>
                </a:solidFill>
                <a:latin typeface="Nunito"/>
                <a:ea typeface="Nunito"/>
                <a:cs typeface="Nunito"/>
              </a:defRPr>
            </a:pPr>
            <a:r>
              <a:rPr sz="2550" b="0">
                <a:solidFill>
                  <a:srgbClr val="4E4E4E"/>
                </a:solidFill>
                <a:latin typeface="Nunito"/>
                <a:ea typeface="Nunito"/>
                <a:cs typeface="Nunito"/>
              </a:rPr>
              <a:t>ADMIN records payments. Actual refund payouts occur outside </a:t>
            </a:r>
            <a:r>
              <a:rPr sz="2550" b="0">
                <a:solidFill>
                  <a:srgbClr val="4E4E4E"/>
                </a:solidFill>
                <a:latin typeface="Nunito"/>
                <a:ea typeface="Nunito"/>
                <a:cs typeface="Nunito"/>
              </a:rPr>
              <a:t>SmartMove</a:t>
            </a:r>
            <a:r>
              <a:rPr sz="2550" b="0">
                <a:solidFill>
                  <a:srgbClr val="4E4E4E"/>
                </a:solidFill>
                <a:latin typeface="Nunito"/>
                <a:ea typeface="Nunito"/>
                <a:cs typeface="Nunito"/>
              </a:rPr>
              <a:t>.</a:t>
            </a:r>
          </a:p>
        </p:txBody>
      </p:sp>
    </p:spTree>
    <p:extLst>
      <p:ext uri="{BB962C8B-B14F-4D97-AF65-F5344CB8AC3E}">
        <p14:creationId xmlns:p14="http://schemas.microsoft.com/office/powerpoint/2010/main" val="786934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MARTMOVE  DATA MANAGEMENT 2">
            <a:extLst xmlns:a="http://schemas.openxmlformats.org/drawingml/2006/main">
              <a:ext uri="{FF2B5EF4-FFF2-40B4-BE49-F238E27FC236}">
                <a16:creationId xmlns:a16="http://schemas.microsoft.com/office/drawing/2014/main" id="{F28CCBF3-C73F-4775-AF7C-891B676312E0}"/>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316F894E-DB5F-4DF7-ACB5-786512586F2F}"/>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Application features">
            <a:extLst xmlns:a="http://schemas.openxmlformats.org/drawingml/2006/main">
              <a:ext uri="{FF2B5EF4-FFF2-40B4-BE49-F238E27FC236}">
                <a16:creationId xmlns:a16="http://schemas.microsoft.com/office/drawing/2014/main" id="{1347DCDC-B4A8-49C5-BAAD-3D8A4FF4461B}"/>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Application features</a:t>
            </a:r>
          </a:p>
        </p:txBody>
      </p:sp>
      <p:sp>
        <p:nvSpPr>
          <p:cNvPr id="4" name="07 / 12">
            <a:extLst xmlns:a="http://schemas.openxmlformats.org/drawingml/2006/main">
              <a:ext uri="{FF2B5EF4-FFF2-40B4-BE49-F238E27FC236}">
                <a16:creationId xmlns:a16="http://schemas.microsoft.com/office/drawing/2014/main" id="{ECC78A6A-D3FF-4AD8-8EF6-2FC67A5A3657}"/>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07 / 12</a:t>
            </a:r>
          </a:p>
        </p:txBody>
      </p:sp>
      <p:sp>
        <p:nvSpPr>
          <p:cNvPr id="5" name="PASSENGER">
            <a:extLst xmlns:a="http://schemas.openxmlformats.org/drawingml/2006/main">
              <a:ext uri="{FF2B5EF4-FFF2-40B4-BE49-F238E27FC236}">
                <a16:creationId xmlns:a16="http://schemas.microsoft.com/office/drawing/2014/main" id="{22FA2E1C-F774-4844-9C6C-8F9CA2BB0B78}"/>
              </a:ext>
            </a:extLst>
          </p:cNvPr>
          <p:cNvSpPr>
            <a:spLocks xmlns:a="http://schemas.openxmlformats.org/drawingml/2006/main" noGrp="1"/>
          </p:cNvSpPr>
          <p:nvPr/>
        </p:nvSpPr>
        <p:spPr>
          <a:xfrm xmlns:a="http://schemas.openxmlformats.org/drawingml/2006/main">
            <a:off x="1047750" y="3800475"/>
            <a:ext cx="7620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900" b="1">
                <a:solidFill>
                  <a:srgbClr val="FF3300"/>
                </a:solidFill>
                <a:latin typeface="Archivo"/>
                <a:ea typeface="Archivo"/>
                <a:cs typeface="Archivo"/>
              </a:defRPr>
            </a:pPr>
            <a:r>
              <a:rPr sz="3900" b="1">
                <a:solidFill>
                  <a:srgbClr val="FF3300"/>
                </a:solidFill>
                <a:latin typeface="Poppins"/>
                <a:ea typeface="Poppins"/>
                <a:cs typeface="Poppins"/>
              </a:rPr>
              <a:t>PASSENGER</a:t>
            </a:r>
          </a:p>
        </p:txBody>
      </p:sp>
      <p:sp>
        <p:nvSpPr>
          <p:cNvPr id="6" name="Trips and seat bookings&#10;Tickets and cancellations&#10;">
            <a:extLst xmlns:a="http://schemas.openxmlformats.org/drawingml/2006/main">
              <a:ext uri="{FF2B5EF4-FFF2-40B4-BE49-F238E27FC236}">
                <a16:creationId xmlns:a16="http://schemas.microsoft.com/office/drawing/2014/main" id="{AFAFEBC9-B2A9-4183-B6B3-FC555E8D21EA}"/>
              </a:ext>
            </a:extLst>
          </p:cNvPr>
          <p:cNvSpPr>
            <a:spLocks xmlns:a="http://schemas.openxmlformats.org/drawingml/2006/main" noGrp="1"/>
          </p:cNvSpPr>
          <p:nvPr/>
        </p:nvSpPr>
        <p:spPr>
          <a:xfrm xmlns:a="http://schemas.openxmlformats.org/drawingml/2006/main">
            <a:off x="1047750" y="5229225"/>
            <a:ext cx="76676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75" b="0">
                <a:solidFill>
                  <a:srgbClr val="131313"/>
                </a:solidFill>
                <a:latin typeface="Nunito"/>
                <a:ea typeface="Nunito"/>
                <a:cs typeface="Nunito"/>
              </a:defRPr>
            </a:pPr>
            <a:r>
              <a:rPr sz="3375" b="0">
                <a:solidFill>
                  <a:srgbClr val="131313"/>
                </a:solidFill>
                <a:latin typeface="Nunito"/>
                <a:ea typeface="Nunito"/>
                <a:cs typeface="Nunito"/>
              </a:rPr>
              <a:t>Trips and seat bookings</a:t>
            </a:r>
          </a:p>
          <a:p xmlns:a="http://schemas.openxmlformats.org/drawingml/2006/main">
            <a:pPr algn="l">
              <a:buNone/>
              <a:defRPr sz="3375" b="0">
                <a:solidFill>
                  <a:srgbClr val="131313"/>
                </a:solidFill>
                <a:latin typeface="Nunito"/>
                <a:ea typeface="Nunito"/>
                <a:cs typeface="Nunito"/>
              </a:defRPr>
            </a:pPr>
            <a:r>
              <a:rPr sz="3375" b="0">
                <a:solidFill>
                  <a:srgbClr val="131313"/>
                </a:solidFill>
                <a:latin typeface="Nunito"/>
                <a:ea typeface="Nunito"/>
                <a:cs typeface="Nunito"/>
              </a:rPr>
              <a:t>Tickets and cancellations</a:t>
            </a:r>
          </a:p>
          <a:p xmlns:a="http://schemas.openxmlformats.org/drawingml/2006/main">
            <a:pPr algn="l">
              <a:buNone/>
              <a:defRPr sz="3375" b="0">
                <a:solidFill>
                  <a:srgbClr val="131313"/>
                </a:solidFill>
                <a:latin typeface="Nunito"/>
                <a:ea typeface="Nunito"/>
                <a:cs typeface="Nunito"/>
              </a:defRPr>
            </a:pPr>
            <a:r>
              <a:rPr sz="3375" b="0">
                <a:solidFill>
                  <a:srgbClr val="131313"/>
                </a:solidFill>
                <a:latin typeface="Nunito"/>
                <a:ea typeface="Nunito"/>
                <a:cs typeface="Nunito"/>
              </a:rPr>
              <a:t>Reviews and notifications</a:t>
            </a:r>
          </a:p>
        </p:txBody>
      </p:sp>
      <p:sp>
        <p:nvSpPr>
          <p:cNvPr id="7" name="ADMIN">
            <a:extLst xmlns:a="http://schemas.openxmlformats.org/drawingml/2006/main">
              <a:ext uri="{FF2B5EF4-FFF2-40B4-BE49-F238E27FC236}">
                <a16:creationId xmlns:a16="http://schemas.microsoft.com/office/drawing/2014/main" id="{3E599C10-6393-4C40-993D-EF16D9B085A8}"/>
              </a:ext>
            </a:extLst>
          </p:cNvPr>
          <p:cNvSpPr>
            <a:spLocks xmlns:a="http://schemas.openxmlformats.org/drawingml/2006/main" noGrp="1"/>
          </p:cNvSpPr>
          <p:nvPr/>
        </p:nvSpPr>
        <p:spPr>
          <a:xfrm xmlns:a="http://schemas.openxmlformats.org/drawingml/2006/main">
            <a:off x="10096500" y="3800475"/>
            <a:ext cx="704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900" b="1">
                <a:solidFill>
                  <a:srgbClr val="FF3300"/>
                </a:solidFill>
                <a:latin typeface="Archivo"/>
                <a:ea typeface="Archivo"/>
                <a:cs typeface="Archivo"/>
              </a:defRPr>
            </a:pPr>
            <a:r>
              <a:rPr sz="3900" b="1">
                <a:solidFill>
                  <a:srgbClr val="FF3300"/>
                </a:solidFill>
                <a:latin typeface="Poppins"/>
                <a:ea typeface="Poppins"/>
                <a:cs typeface="Poppins"/>
              </a:rPr>
              <a:t>ADMIN</a:t>
            </a:r>
          </a:p>
        </p:txBody>
      </p:sp>
      <p:sp>
        <p:nvSpPr>
          <p:cNvPr id="8" name="Fleet, routes and trips&#10;Maintenance, payments and ">
            <a:extLst xmlns:a="http://schemas.openxmlformats.org/drawingml/2006/main">
              <a:ext uri="{FF2B5EF4-FFF2-40B4-BE49-F238E27FC236}">
                <a16:creationId xmlns:a16="http://schemas.microsoft.com/office/drawing/2014/main" id="{9CAF77EA-2509-486A-81A4-A21EB1890F32}"/>
              </a:ext>
            </a:extLst>
          </p:cNvPr>
          <p:cNvSpPr>
            <a:spLocks xmlns:a="http://schemas.openxmlformats.org/drawingml/2006/main" noGrp="1"/>
          </p:cNvSpPr>
          <p:nvPr/>
        </p:nvSpPr>
        <p:spPr>
          <a:xfrm xmlns:a="http://schemas.openxmlformats.org/drawingml/2006/main">
            <a:off x="10096500" y="5229225"/>
            <a:ext cx="719137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0">
                <a:solidFill>
                  <a:srgbClr val="131313"/>
                </a:solidFill>
                <a:latin typeface="Nunito"/>
                <a:ea typeface="Nunito"/>
                <a:cs typeface="Nunito"/>
              </a:defRPr>
            </a:pPr>
            <a:r>
              <a:rPr sz="3150" b="0">
                <a:solidFill>
                  <a:srgbClr val="131313"/>
                </a:solidFill>
                <a:latin typeface="Nunito"/>
                <a:ea typeface="Nunito"/>
                <a:cs typeface="Nunito"/>
              </a:rPr>
              <a:t>Fleet, routes and trips</a:t>
            </a:r>
          </a:p>
          <a:p xmlns:a="http://schemas.openxmlformats.org/drawingml/2006/main">
            <a:pPr algn="l">
              <a:buNone/>
              <a:defRPr sz="3150" b="0">
                <a:solidFill>
                  <a:srgbClr val="131313"/>
                </a:solidFill>
                <a:latin typeface="Nunito"/>
                <a:ea typeface="Nunito"/>
                <a:cs typeface="Nunito"/>
              </a:defRPr>
            </a:pPr>
            <a:r>
              <a:rPr sz="3150" b="0">
                <a:solidFill>
                  <a:srgbClr val="131313"/>
                </a:solidFill>
                <a:latin typeface="Nunito"/>
                <a:ea typeface="Nunito"/>
                <a:cs typeface="Nunito"/>
              </a:rPr>
              <a:t>Maintenance, payments and refunds</a:t>
            </a:r>
          </a:p>
          <a:p xmlns:a="http://schemas.openxmlformats.org/drawingml/2006/main">
            <a:pPr algn="l">
              <a:buNone/>
              <a:defRPr sz="3150" b="0">
                <a:solidFill>
                  <a:srgbClr val="131313"/>
                </a:solidFill>
                <a:latin typeface="Nunito"/>
                <a:ea typeface="Nunito"/>
                <a:cs typeface="Nunito"/>
              </a:defRPr>
            </a:pPr>
            <a:r>
              <a:rPr sz="3150" b="0">
                <a:solidFill>
                  <a:srgbClr val="131313"/>
                </a:solidFill>
                <a:latin typeface="Nunito"/>
                <a:ea typeface="Nunito"/>
                <a:cs typeface="Nunito"/>
              </a:rPr>
              <a:t>Travel announcements</a:t>
            </a:r>
          </a:p>
        </p:txBody>
      </p:sp>
    </p:spTree>
    <p:extLst>
      <p:ext uri="{BB962C8B-B14F-4D97-AF65-F5344CB8AC3E}">
        <p14:creationId xmlns:p14="http://schemas.microsoft.com/office/powerpoint/2010/main" val="11130804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MARTMOVE  DATA MANAGEMENT 2">
            <a:extLst xmlns:a="http://schemas.openxmlformats.org/drawingml/2006/main">
              <a:ext uri="{FF2B5EF4-FFF2-40B4-BE49-F238E27FC236}">
                <a16:creationId xmlns:a16="http://schemas.microsoft.com/office/drawing/2014/main" id="{E684D9AA-4872-4082-89CA-63B0D4B28720}"/>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A2D22FBC-CCC2-4E56-8BBA-A834230C60DD}"/>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Five business reports">
            <a:extLst xmlns:a="http://schemas.openxmlformats.org/drawingml/2006/main">
              <a:ext uri="{FF2B5EF4-FFF2-40B4-BE49-F238E27FC236}">
                <a16:creationId xmlns:a16="http://schemas.microsoft.com/office/drawing/2014/main" id="{6EACB0C9-63F0-4D1E-B7DB-6C0F4885FD6F}"/>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Five business reports</a:t>
            </a:r>
          </a:p>
        </p:txBody>
      </p:sp>
      <p:sp>
        <p:nvSpPr>
          <p:cNvPr id="4" name="08 / 12">
            <a:extLst xmlns:a="http://schemas.openxmlformats.org/drawingml/2006/main">
              <a:ext uri="{FF2B5EF4-FFF2-40B4-BE49-F238E27FC236}">
                <a16:creationId xmlns:a16="http://schemas.microsoft.com/office/drawing/2014/main" id="{9F6F6938-9896-4C91-97D6-F02DD4C5AA12}"/>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08 / 12</a:t>
            </a:r>
          </a:p>
        </p:txBody>
      </p:sp>
      <p:sp>
        <p:nvSpPr>
          <p:cNvPr id="5" name="01">
            <a:extLst xmlns:a="http://schemas.openxmlformats.org/drawingml/2006/main">
              <a:ext uri="{FF2B5EF4-FFF2-40B4-BE49-F238E27FC236}">
                <a16:creationId xmlns:a16="http://schemas.microsoft.com/office/drawing/2014/main" id="{053284C9-A3F6-4D43-8DFF-E3052789CA45}"/>
              </a:ext>
            </a:extLst>
          </p:cNvPr>
          <p:cNvSpPr>
            <a:spLocks xmlns:a="http://schemas.openxmlformats.org/drawingml/2006/main" noGrp="1"/>
          </p:cNvSpPr>
          <p:nvPr/>
        </p:nvSpPr>
        <p:spPr>
          <a:xfrm xmlns:a="http://schemas.openxmlformats.org/drawingml/2006/main">
            <a:off x="1047750" y="355282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F3300"/>
                </a:solidFill>
                <a:latin typeface="Archivo"/>
                <a:ea typeface="Archivo"/>
                <a:cs typeface="Archivo"/>
              </a:defRPr>
            </a:pPr>
            <a:r>
              <a:rPr sz="3600" b="1">
                <a:solidFill>
                  <a:srgbClr val="FF3300"/>
                </a:solidFill>
                <a:latin typeface="Archivo"/>
                <a:ea typeface="Archivo"/>
                <a:cs typeface="Archivo"/>
              </a:rPr>
              <a:t>01</a:t>
            </a:r>
          </a:p>
        </p:txBody>
      </p:sp>
      <p:sp>
        <p:nvSpPr>
          <p:cNvPr id="6" name="Popular routes">
            <a:extLst xmlns:a="http://schemas.openxmlformats.org/drawingml/2006/main">
              <a:ext uri="{FF2B5EF4-FFF2-40B4-BE49-F238E27FC236}">
                <a16:creationId xmlns:a16="http://schemas.microsoft.com/office/drawing/2014/main" id="{4EEBED51-CE5F-42DC-8FEB-F1C35C5607D6}"/>
              </a:ext>
            </a:extLst>
          </p:cNvPr>
          <p:cNvSpPr>
            <a:spLocks xmlns:a="http://schemas.openxmlformats.org/drawingml/2006/main" noGrp="1"/>
          </p:cNvSpPr>
          <p:nvPr/>
        </p:nvSpPr>
        <p:spPr>
          <a:xfrm xmlns:a="http://schemas.openxmlformats.org/drawingml/2006/main">
            <a:off x="2381250" y="35623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75" b="0">
                <a:solidFill>
                  <a:srgbClr val="131313"/>
                </a:solidFill>
                <a:latin typeface="Nunito"/>
                <a:ea typeface="Nunito"/>
                <a:cs typeface="Nunito"/>
              </a:defRPr>
            </a:pPr>
            <a:r>
              <a:rPr sz="3375" b="0">
                <a:solidFill>
                  <a:srgbClr val="131313"/>
                </a:solidFill>
                <a:latin typeface="Nunito"/>
                <a:ea typeface="Nunito"/>
                <a:cs typeface="Nunito"/>
              </a:rPr>
              <a:t>Popular routes</a:t>
            </a:r>
          </a:p>
        </p:txBody>
      </p:sp>
      <p:sp>
        <p:nvSpPr>
          <p:cNvPr id="7" name="02">
            <a:extLst xmlns:a="http://schemas.openxmlformats.org/drawingml/2006/main">
              <a:ext uri="{FF2B5EF4-FFF2-40B4-BE49-F238E27FC236}">
                <a16:creationId xmlns:a16="http://schemas.microsoft.com/office/drawing/2014/main" id="{F4C22E01-73FD-4F6E-BD39-587AE3A2155B}"/>
              </a:ext>
            </a:extLst>
          </p:cNvPr>
          <p:cNvSpPr>
            <a:spLocks xmlns:a="http://schemas.openxmlformats.org/drawingml/2006/main" noGrp="1"/>
          </p:cNvSpPr>
          <p:nvPr/>
        </p:nvSpPr>
        <p:spPr>
          <a:xfrm xmlns:a="http://schemas.openxmlformats.org/drawingml/2006/main">
            <a:off x="1047750" y="461962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F3300"/>
                </a:solidFill>
                <a:latin typeface="Archivo"/>
                <a:ea typeface="Archivo"/>
                <a:cs typeface="Archivo"/>
              </a:defRPr>
            </a:pPr>
            <a:r>
              <a:rPr sz="3600" b="1">
                <a:solidFill>
                  <a:srgbClr val="FF3300"/>
                </a:solidFill>
                <a:latin typeface="Archivo"/>
                <a:ea typeface="Archivo"/>
                <a:cs typeface="Archivo"/>
              </a:rPr>
              <a:t>02</a:t>
            </a:r>
          </a:p>
        </p:txBody>
      </p:sp>
      <p:sp>
        <p:nvSpPr>
          <p:cNvPr id="8" name="Revenue">
            <a:extLst xmlns:a="http://schemas.openxmlformats.org/drawingml/2006/main">
              <a:ext uri="{FF2B5EF4-FFF2-40B4-BE49-F238E27FC236}">
                <a16:creationId xmlns:a16="http://schemas.microsoft.com/office/drawing/2014/main" id="{EBF013C7-079A-4350-AEFD-02E243F98B61}"/>
              </a:ext>
            </a:extLst>
          </p:cNvPr>
          <p:cNvSpPr>
            <a:spLocks xmlns:a="http://schemas.openxmlformats.org/drawingml/2006/main" noGrp="1"/>
          </p:cNvSpPr>
          <p:nvPr/>
        </p:nvSpPr>
        <p:spPr>
          <a:xfrm xmlns:a="http://schemas.openxmlformats.org/drawingml/2006/main">
            <a:off x="2381250" y="46291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75" b="0">
                <a:solidFill>
                  <a:srgbClr val="131313"/>
                </a:solidFill>
                <a:latin typeface="Nunito"/>
                <a:ea typeface="Nunito"/>
                <a:cs typeface="Nunito"/>
              </a:defRPr>
            </a:pPr>
            <a:r>
              <a:rPr sz="3375" b="0">
                <a:solidFill>
                  <a:srgbClr val="131313"/>
                </a:solidFill>
                <a:latin typeface="Nunito"/>
                <a:ea typeface="Nunito"/>
                <a:cs typeface="Nunito"/>
              </a:rPr>
              <a:t>Revenue</a:t>
            </a:r>
          </a:p>
        </p:txBody>
      </p:sp>
      <p:sp>
        <p:nvSpPr>
          <p:cNvPr id="9" name="03">
            <a:extLst xmlns:a="http://schemas.openxmlformats.org/drawingml/2006/main">
              <a:ext uri="{FF2B5EF4-FFF2-40B4-BE49-F238E27FC236}">
                <a16:creationId xmlns:a16="http://schemas.microsoft.com/office/drawing/2014/main" id="{1CE1EF49-A6BF-49FC-AF86-D16347622DD4}"/>
              </a:ext>
            </a:extLst>
          </p:cNvPr>
          <p:cNvSpPr>
            <a:spLocks xmlns:a="http://schemas.openxmlformats.org/drawingml/2006/main" noGrp="1"/>
          </p:cNvSpPr>
          <p:nvPr/>
        </p:nvSpPr>
        <p:spPr>
          <a:xfrm xmlns:a="http://schemas.openxmlformats.org/drawingml/2006/main">
            <a:off x="1047750" y="568642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F3300"/>
                </a:solidFill>
                <a:latin typeface="Archivo"/>
                <a:ea typeface="Archivo"/>
                <a:cs typeface="Archivo"/>
              </a:defRPr>
            </a:pPr>
            <a:r>
              <a:rPr sz="3600" b="1">
                <a:solidFill>
                  <a:srgbClr val="FF3300"/>
                </a:solidFill>
                <a:latin typeface="Archivo"/>
                <a:ea typeface="Archivo"/>
                <a:cs typeface="Archivo"/>
              </a:rPr>
              <a:t>03</a:t>
            </a:r>
          </a:p>
        </p:txBody>
      </p:sp>
      <p:sp>
        <p:nvSpPr>
          <p:cNvPr id="10" name="Passenger history">
            <a:extLst xmlns:a="http://schemas.openxmlformats.org/drawingml/2006/main">
              <a:ext uri="{FF2B5EF4-FFF2-40B4-BE49-F238E27FC236}">
                <a16:creationId xmlns:a16="http://schemas.microsoft.com/office/drawing/2014/main" id="{111C6497-E58A-4242-AEA7-E14FAAD7C3AC}"/>
              </a:ext>
            </a:extLst>
          </p:cNvPr>
          <p:cNvSpPr>
            <a:spLocks xmlns:a="http://schemas.openxmlformats.org/drawingml/2006/main" noGrp="1"/>
          </p:cNvSpPr>
          <p:nvPr/>
        </p:nvSpPr>
        <p:spPr>
          <a:xfrm xmlns:a="http://schemas.openxmlformats.org/drawingml/2006/main">
            <a:off x="2381250" y="5695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75" b="0">
                <a:solidFill>
                  <a:srgbClr val="131313"/>
                </a:solidFill>
                <a:latin typeface="Nunito"/>
                <a:ea typeface="Nunito"/>
                <a:cs typeface="Nunito"/>
              </a:defRPr>
            </a:pPr>
            <a:r>
              <a:rPr sz="3375" b="0">
                <a:solidFill>
                  <a:srgbClr val="131313"/>
                </a:solidFill>
                <a:latin typeface="Nunito"/>
                <a:ea typeface="Nunito"/>
                <a:cs typeface="Nunito"/>
              </a:rPr>
              <a:t>Passenger history</a:t>
            </a:r>
          </a:p>
        </p:txBody>
      </p:sp>
      <p:sp>
        <p:nvSpPr>
          <p:cNvPr id="11" name="04">
            <a:extLst xmlns:a="http://schemas.openxmlformats.org/drawingml/2006/main">
              <a:ext uri="{FF2B5EF4-FFF2-40B4-BE49-F238E27FC236}">
                <a16:creationId xmlns:a16="http://schemas.microsoft.com/office/drawing/2014/main" id="{C6B8A25B-1A03-44AE-898A-B23F9E0BBD2E}"/>
              </a:ext>
            </a:extLst>
          </p:cNvPr>
          <p:cNvSpPr>
            <a:spLocks xmlns:a="http://schemas.openxmlformats.org/drawingml/2006/main" noGrp="1"/>
          </p:cNvSpPr>
          <p:nvPr/>
        </p:nvSpPr>
        <p:spPr>
          <a:xfrm xmlns:a="http://schemas.openxmlformats.org/drawingml/2006/main">
            <a:off x="1047750" y="675322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F3300"/>
                </a:solidFill>
                <a:latin typeface="Archivo"/>
                <a:ea typeface="Archivo"/>
                <a:cs typeface="Archivo"/>
              </a:defRPr>
            </a:pPr>
            <a:r>
              <a:rPr sz="3600" b="1">
                <a:solidFill>
                  <a:srgbClr val="FF3300"/>
                </a:solidFill>
                <a:latin typeface="Archivo"/>
                <a:ea typeface="Archivo"/>
                <a:cs typeface="Archivo"/>
              </a:rPr>
              <a:t>04</a:t>
            </a:r>
          </a:p>
        </p:txBody>
      </p:sp>
      <p:sp>
        <p:nvSpPr>
          <p:cNvPr id="12" name="Maintenance due">
            <a:extLst xmlns:a="http://schemas.openxmlformats.org/drawingml/2006/main">
              <a:ext uri="{FF2B5EF4-FFF2-40B4-BE49-F238E27FC236}">
                <a16:creationId xmlns:a16="http://schemas.microsoft.com/office/drawing/2014/main" id="{15C41A69-E975-4911-940B-7AA711482044}"/>
              </a:ext>
            </a:extLst>
          </p:cNvPr>
          <p:cNvSpPr>
            <a:spLocks xmlns:a="http://schemas.openxmlformats.org/drawingml/2006/main" noGrp="1"/>
          </p:cNvSpPr>
          <p:nvPr/>
        </p:nvSpPr>
        <p:spPr>
          <a:xfrm xmlns:a="http://schemas.openxmlformats.org/drawingml/2006/main">
            <a:off x="2381250" y="67627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75" b="0">
                <a:solidFill>
                  <a:srgbClr val="131313"/>
                </a:solidFill>
                <a:latin typeface="Nunito"/>
                <a:ea typeface="Nunito"/>
                <a:cs typeface="Nunito"/>
              </a:defRPr>
            </a:pPr>
            <a:r>
              <a:rPr sz="3375" b="0">
                <a:solidFill>
                  <a:srgbClr val="131313"/>
                </a:solidFill>
                <a:latin typeface="Nunito"/>
                <a:ea typeface="Nunito"/>
                <a:cs typeface="Nunito"/>
              </a:rPr>
              <a:t>Maintenance due</a:t>
            </a:r>
          </a:p>
        </p:txBody>
      </p:sp>
      <p:sp>
        <p:nvSpPr>
          <p:cNvPr id="13" name="05">
            <a:extLst xmlns:a="http://schemas.openxmlformats.org/drawingml/2006/main">
              <a:ext uri="{FF2B5EF4-FFF2-40B4-BE49-F238E27FC236}">
                <a16:creationId xmlns:a16="http://schemas.microsoft.com/office/drawing/2014/main" id="{7322D770-F348-4F78-8F96-E25ABE965405}"/>
              </a:ext>
            </a:extLst>
          </p:cNvPr>
          <p:cNvSpPr>
            <a:spLocks xmlns:a="http://schemas.openxmlformats.org/drawingml/2006/main" noGrp="1"/>
          </p:cNvSpPr>
          <p:nvPr/>
        </p:nvSpPr>
        <p:spPr>
          <a:xfrm xmlns:a="http://schemas.openxmlformats.org/drawingml/2006/main">
            <a:off x="1047750" y="782002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F3300"/>
                </a:solidFill>
                <a:latin typeface="Archivo"/>
                <a:ea typeface="Archivo"/>
                <a:cs typeface="Archivo"/>
              </a:defRPr>
            </a:pPr>
            <a:r>
              <a:rPr sz="3600" b="1">
                <a:solidFill>
                  <a:srgbClr val="FF3300"/>
                </a:solidFill>
                <a:latin typeface="Archivo"/>
                <a:ea typeface="Archivo"/>
                <a:cs typeface="Archivo"/>
              </a:rPr>
              <a:t>05</a:t>
            </a:r>
          </a:p>
        </p:txBody>
      </p:sp>
      <p:sp>
        <p:nvSpPr>
          <p:cNvPr id="14" name="Trip occupancy">
            <a:extLst xmlns:a="http://schemas.openxmlformats.org/drawingml/2006/main">
              <a:ext uri="{FF2B5EF4-FFF2-40B4-BE49-F238E27FC236}">
                <a16:creationId xmlns:a16="http://schemas.microsoft.com/office/drawing/2014/main" id="{B1AAF5A2-8AEF-45A7-8596-18C9527FF72B}"/>
              </a:ext>
            </a:extLst>
          </p:cNvPr>
          <p:cNvSpPr>
            <a:spLocks xmlns:a="http://schemas.openxmlformats.org/drawingml/2006/main" noGrp="1"/>
          </p:cNvSpPr>
          <p:nvPr/>
        </p:nvSpPr>
        <p:spPr>
          <a:xfrm xmlns:a="http://schemas.openxmlformats.org/drawingml/2006/main">
            <a:off x="2381250" y="78295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75" b="0">
                <a:solidFill>
                  <a:srgbClr val="131313"/>
                </a:solidFill>
                <a:latin typeface="Nunito"/>
                <a:ea typeface="Nunito"/>
                <a:cs typeface="Nunito"/>
              </a:defRPr>
            </a:pPr>
            <a:r>
              <a:rPr sz="3375" b="0">
                <a:solidFill>
                  <a:srgbClr val="131313"/>
                </a:solidFill>
                <a:latin typeface="Nunito"/>
                <a:ea typeface="Nunito"/>
                <a:cs typeface="Nunito"/>
              </a:rPr>
              <a:t>Trip occupancy</a:t>
            </a:r>
          </a:p>
        </p:txBody>
      </p:sp>
      <p:graphicFrame>
        <p:nvGraphicFramePr>
          <p:cNvPr id="33" name="Chart"/>
          <p:cNvGraphicFramePr/>
          <p:nvPr/>
        </p:nvGraphicFramePr>
        <p:xfrm>
          <a:off xmlns:a="http://schemas.openxmlformats.org/drawingml/2006/main" x="9715500" y="3162300"/>
          <a:ext xmlns:a="http://schemas.openxmlformats.org/drawingml/2006/main" cx="7524750" cy="5619750"/>
        </p:xfrm>
        <a:graphic xmlns:a="http://schemas.openxmlformats.org/drawingml/2006/main">
          <a:graphicData uri="http://schemas.openxmlformats.org/drawingml/2006/chart">
            <c:chart xmlns:r="http://schemas.openxmlformats.org/officeDocument/2006/relationships" xmlns:c="http://schemas.openxmlformats.org/drawingml/2006/chart" r:id="R1a330210f4ce4af0"/>
          </a:graphicData>
        </a:graphic>
      </p:graphicFrame>
      <p:sp>
        <p:nvSpPr>
          <p:cNvPr id="16" name="Fictional sample-script data">
            <a:extLst xmlns:a="http://schemas.openxmlformats.org/drawingml/2006/main">
              <a:ext uri="{FF2B5EF4-FFF2-40B4-BE49-F238E27FC236}">
                <a16:creationId xmlns:a16="http://schemas.microsoft.com/office/drawing/2014/main" id="{CB1D5131-F8C1-4E4B-BF63-D9B0BE76F252}"/>
              </a:ext>
            </a:extLst>
          </p:cNvPr>
          <p:cNvSpPr>
            <a:spLocks xmlns:a="http://schemas.openxmlformats.org/drawingml/2006/main" noGrp="1"/>
          </p:cNvSpPr>
          <p:nvPr/>
        </p:nvSpPr>
        <p:spPr>
          <a:xfrm xmlns:a="http://schemas.openxmlformats.org/drawingml/2006/main">
            <a:off x="11664131" y="8867775"/>
            <a:ext cx="3627488"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4E4E4E"/>
                </a:solidFill>
                <a:latin typeface="Nunito"/>
                <a:ea typeface="Nunito"/>
                <a:cs typeface="Nunito"/>
              </a:defRPr>
            </a:pPr>
            <a:r>
              <a:rPr sz="2250" b="0">
                <a:solidFill>
                  <a:srgbClr val="4E4E4E"/>
                </a:solidFill>
                <a:latin typeface="Nunito"/>
                <a:ea typeface="Nunito"/>
                <a:cs typeface="Nunito"/>
              </a:rPr>
              <a:t>Fictional sample-script data</a:t>
            </a:r>
          </a:p>
        </p:txBody>
      </p:sp>
    </p:spTree>
    <p:extLst>
      <p:ext uri="{BB962C8B-B14F-4D97-AF65-F5344CB8AC3E}">
        <p14:creationId xmlns:p14="http://schemas.microsoft.com/office/powerpoint/2010/main" val="8795199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MARTMOVE  DATA MANAGEMENT 2">
            <a:extLst xmlns:a="http://schemas.openxmlformats.org/drawingml/2006/main">
              <a:ext uri="{FF2B5EF4-FFF2-40B4-BE49-F238E27FC236}">
                <a16:creationId xmlns:a16="http://schemas.microsoft.com/office/drawing/2014/main" id="{257E5FAF-A34E-4F53-954B-F5A25F3FB1E3}"/>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8A40DB5E-4F3C-4AD8-8DA6-CB10BA1DA443}"/>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MongoDB content">
            <a:extLst xmlns:a="http://schemas.openxmlformats.org/drawingml/2006/main">
              <a:ext uri="{FF2B5EF4-FFF2-40B4-BE49-F238E27FC236}">
                <a16:creationId xmlns:a16="http://schemas.microsoft.com/office/drawing/2014/main" id="{B1C8970E-7407-47B8-A2BF-5474D8EEA216}"/>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MongoDB content</a:t>
            </a:r>
          </a:p>
        </p:txBody>
      </p:sp>
      <p:sp>
        <p:nvSpPr>
          <p:cNvPr id="4" name="09 / 12">
            <a:extLst xmlns:a="http://schemas.openxmlformats.org/drawingml/2006/main">
              <a:ext uri="{FF2B5EF4-FFF2-40B4-BE49-F238E27FC236}">
                <a16:creationId xmlns:a16="http://schemas.microsoft.com/office/drawing/2014/main" id="{CB071962-392C-4B71-98FA-3713887C89D7}"/>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09 / 12</a:t>
            </a:r>
          </a:p>
        </p:txBody>
      </p:sp>
      <p:sp>
        <p:nvSpPr>
          <p:cNvPr id="5" name="01">
            <a:extLst xmlns:a="http://schemas.openxmlformats.org/drawingml/2006/main">
              <a:ext uri="{FF2B5EF4-FFF2-40B4-BE49-F238E27FC236}">
                <a16:creationId xmlns:a16="http://schemas.microsoft.com/office/drawing/2014/main" id="{1911661B-3BB8-4650-B087-3B24F04BCA22}"/>
              </a:ext>
            </a:extLst>
          </p:cNvPr>
          <p:cNvSpPr>
            <a:spLocks xmlns:a="http://schemas.openxmlformats.org/drawingml/2006/main" noGrp="1"/>
          </p:cNvSpPr>
          <p:nvPr/>
        </p:nvSpPr>
        <p:spPr>
          <a:xfrm xmlns:a="http://schemas.openxmlformats.org/drawingml/2006/main">
            <a:off x="1047750"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01</a:t>
            </a:r>
          </a:p>
        </p:txBody>
      </p:sp>
      <p:sp>
        <p:nvSpPr>
          <p:cNvPr id="6" name="Reviews">
            <a:extLst xmlns:a="http://schemas.openxmlformats.org/drawingml/2006/main">
              <a:ext uri="{FF2B5EF4-FFF2-40B4-BE49-F238E27FC236}">
                <a16:creationId xmlns:a16="http://schemas.microsoft.com/office/drawing/2014/main" id="{8458DBD5-FECF-4370-9497-FE8F66B3D3E4}"/>
              </a:ext>
            </a:extLst>
          </p:cNvPr>
          <p:cNvSpPr>
            <a:spLocks xmlns:a="http://schemas.openxmlformats.org/drawingml/2006/main" noGrp="1"/>
          </p:cNvSpPr>
          <p:nvPr/>
        </p:nvSpPr>
        <p:spPr>
          <a:xfrm xmlns:a="http://schemas.openxmlformats.org/drawingml/2006/main">
            <a:off x="1047750"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Reviews</a:t>
            </a:r>
          </a:p>
        </p:txBody>
      </p:sp>
      <p:sp>
        <p:nvSpPr>
          <p:cNvPr id="7" name="Feedback comments&#10;Vehicle and driver ratings">
            <a:extLst xmlns:a="http://schemas.openxmlformats.org/drawingml/2006/main">
              <a:ext uri="{FF2B5EF4-FFF2-40B4-BE49-F238E27FC236}">
                <a16:creationId xmlns:a16="http://schemas.microsoft.com/office/drawing/2014/main" id="{796EB184-5210-4491-9A2C-2AA2AE063F6D}"/>
              </a:ext>
            </a:extLst>
          </p:cNvPr>
          <p:cNvSpPr>
            <a:spLocks xmlns:a="http://schemas.openxmlformats.org/drawingml/2006/main" noGrp="1"/>
          </p:cNvSpPr>
          <p:nvPr/>
        </p:nvSpPr>
        <p:spPr>
          <a:xfrm xmlns:a="http://schemas.openxmlformats.org/drawingml/2006/main">
            <a:off x="1047750"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Feedback comments</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Vehicle and driver ratings</a:t>
            </a:r>
          </a:p>
        </p:txBody>
      </p:sp>
      <p:sp>
        <p:nvSpPr>
          <p:cNvPr id="8" name="02">
            <a:extLst xmlns:a="http://schemas.openxmlformats.org/drawingml/2006/main">
              <a:ext uri="{FF2B5EF4-FFF2-40B4-BE49-F238E27FC236}">
                <a16:creationId xmlns:a16="http://schemas.microsoft.com/office/drawing/2014/main" id="{513465B6-51C5-48BB-A3F9-EE73F50FE764}"/>
              </a:ext>
            </a:extLst>
          </p:cNvPr>
          <p:cNvSpPr>
            <a:spLocks xmlns:a="http://schemas.openxmlformats.org/drawingml/2006/main" noGrp="1"/>
          </p:cNvSpPr>
          <p:nvPr/>
        </p:nvSpPr>
        <p:spPr>
          <a:xfrm xmlns:a="http://schemas.openxmlformats.org/drawingml/2006/main">
            <a:off x="6715125"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02</a:t>
            </a:r>
          </a:p>
        </p:txBody>
      </p:sp>
      <p:sp>
        <p:nvSpPr>
          <p:cNvPr id="9" name="Notices">
            <a:extLst xmlns:a="http://schemas.openxmlformats.org/drawingml/2006/main">
              <a:ext uri="{FF2B5EF4-FFF2-40B4-BE49-F238E27FC236}">
                <a16:creationId xmlns:a16="http://schemas.microsoft.com/office/drawing/2014/main" id="{2CD54109-E8B3-4500-BFE4-B9E87BF372F2}"/>
              </a:ext>
            </a:extLst>
          </p:cNvPr>
          <p:cNvSpPr>
            <a:spLocks xmlns:a="http://schemas.openxmlformats.org/drawingml/2006/main" noGrp="1"/>
          </p:cNvSpPr>
          <p:nvPr/>
        </p:nvSpPr>
        <p:spPr>
          <a:xfrm xmlns:a="http://schemas.openxmlformats.org/drawingml/2006/main">
            <a:off x="6715125"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Notices</a:t>
            </a:r>
          </a:p>
        </p:txBody>
      </p:sp>
      <p:sp>
        <p:nvSpPr>
          <p:cNvPr id="10" name="Announcements&#10;Passenger notifications">
            <a:extLst xmlns:a="http://schemas.openxmlformats.org/drawingml/2006/main">
              <a:ext uri="{FF2B5EF4-FFF2-40B4-BE49-F238E27FC236}">
                <a16:creationId xmlns:a16="http://schemas.microsoft.com/office/drawing/2014/main" id="{5C35B624-A7B2-4F00-A98F-7189C98D5607}"/>
              </a:ext>
            </a:extLst>
          </p:cNvPr>
          <p:cNvSpPr>
            <a:spLocks xmlns:a="http://schemas.openxmlformats.org/drawingml/2006/main" noGrp="1"/>
          </p:cNvSpPr>
          <p:nvPr/>
        </p:nvSpPr>
        <p:spPr>
          <a:xfrm xmlns:a="http://schemas.openxmlformats.org/drawingml/2006/main">
            <a:off x="6715125"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Announcements</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Passenger notifications</a:t>
            </a:r>
          </a:p>
        </p:txBody>
      </p:sp>
      <p:sp>
        <p:nvSpPr>
          <p:cNvPr id="11" name="03">
            <a:extLst xmlns:a="http://schemas.openxmlformats.org/drawingml/2006/main">
              <a:ext uri="{FF2B5EF4-FFF2-40B4-BE49-F238E27FC236}">
                <a16:creationId xmlns:a16="http://schemas.microsoft.com/office/drawing/2014/main" id="{4427BDDC-2197-4FA6-8FBB-2A76AAC2C7A0}"/>
              </a:ext>
            </a:extLst>
          </p:cNvPr>
          <p:cNvSpPr>
            <a:spLocks xmlns:a="http://schemas.openxmlformats.org/drawingml/2006/main" noGrp="1"/>
          </p:cNvSpPr>
          <p:nvPr/>
        </p:nvSpPr>
        <p:spPr>
          <a:xfrm xmlns:a="http://schemas.openxmlformats.org/drawingml/2006/main">
            <a:off x="12382500"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03</a:t>
            </a:r>
          </a:p>
        </p:txBody>
      </p:sp>
      <p:sp>
        <p:nvSpPr>
          <p:cNvPr id="12" name="Media references">
            <a:extLst xmlns:a="http://schemas.openxmlformats.org/drawingml/2006/main">
              <a:ext uri="{FF2B5EF4-FFF2-40B4-BE49-F238E27FC236}">
                <a16:creationId xmlns:a16="http://schemas.microsoft.com/office/drawing/2014/main" id="{75DC2920-DD53-4BA5-B884-B6D889798255}"/>
              </a:ext>
            </a:extLst>
          </p:cNvPr>
          <p:cNvSpPr>
            <a:spLocks xmlns:a="http://schemas.openxmlformats.org/drawingml/2006/main" noGrp="1"/>
          </p:cNvSpPr>
          <p:nvPr/>
        </p:nvSpPr>
        <p:spPr>
          <a:xfrm xmlns:a="http://schemas.openxmlformats.org/drawingml/2006/main">
            <a:off x="12382500"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Demo media files</a:t>
            </a:r>
          </a:p>
        </p:txBody>
      </p:sp>
      <p:sp>
        <p:nvSpPr>
          <p:cNvPr id="13" name="Vehicle documents&#10;Trip photos and media links">
            <a:extLst xmlns:a="http://schemas.openxmlformats.org/drawingml/2006/main">
              <a:ext uri="{FF2B5EF4-FFF2-40B4-BE49-F238E27FC236}">
                <a16:creationId xmlns:a16="http://schemas.microsoft.com/office/drawing/2014/main" id="{A1D0DF3C-4D01-443A-96F1-587BDC38326D}"/>
              </a:ext>
            </a:extLst>
          </p:cNvPr>
          <p:cNvSpPr>
            <a:spLocks xmlns:a="http://schemas.openxmlformats.org/drawingml/2006/main" noGrp="1"/>
          </p:cNvSpPr>
          <p:nvPr/>
        </p:nvSpPr>
        <p:spPr>
          <a:xfrm xmlns:a="http://schemas.openxmlformats.org/drawingml/2006/main">
            <a:off x="12382500"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Vehicle photo + document</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Trip photo</a:t>
            </a:r>
          </a:p>
        </p:txBody>
      </p:sp>
      <p:sp>
        <p:nvSpPr>
          <p:cNvPr id="14" name="Flexible documents link to Oracle using shared IDs">
            <a:extLst xmlns:a="http://schemas.openxmlformats.org/drawingml/2006/main">
              <a:ext uri="{FF2B5EF4-FFF2-40B4-BE49-F238E27FC236}">
                <a16:creationId xmlns:a16="http://schemas.microsoft.com/office/drawing/2014/main" id="{BC2A5ABC-3202-4CB5-93C8-7DDB6222545F}"/>
              </a:ext>
            </a:extLst>
          </p:cNvPr>
          <p:cNvSpPr>
            <a:spLocks xmlns:a="http://schemas.openxmlformats.org/drawingml/2006/main" noGrp="1"/>
          </p:cNvSpPr>
          <p:nvPr/>
        </p:nvSpPr>
        <p:spPr>
          <a:xfrm xmlns:a="http://schemas.openxmlformats.org/drawingml/2006/main">
            <a:off x="1047750" y="9058275"/>
            <a:ext cx="1566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FF3300"/>
                </a:solidFill>
                <a:latin typeface="Nunito"/>
                <a:ea typeface="Nunito"/>
                <a:cs typeface="Nunito"/>
              </a:defRPr>
            </a:pPr>
            <a:r>
              <a:rPr sz="2850" b="0">
                <a:solidFill>
                  <a:srgbClr val="FF3300"/>
                </a:solidFill>
                <a:latin typeface="Nunito"/>
                <a:ea typeface="Nunito"/>
                <a:cs typeface="Nunito"/>
              </a:rPr>
              <a:t>Flexible documents link to Oracle using shared IDs.</a:t>
            </a:r>
          </a:p>
        </p:txBody>
      </p:sp>
    </p:spTree>
    <p:extLst>
      <p:ext uri="{BB962C8B-B14F-4D97-AF65-F5344CB8AC3E}">
        <p14:creationId xmlns:p14="http://schemas.microsoft.com/office/powerpoint/2010/main" val="15562325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MARTMOVE  DATA MANAGEMENT 2">
            <a:extLst xmlns:a="http://schemas.openxmlformats.org/drawingml/2006/main">
              <a:ext uri="{FF2B5EF4-FFF2-40B4-BE49-F238E27FC236}">
                <a16:creationId xmlns:a16="http://schemas.microsoft.com/office/drawing/2014/main" id="{48668572-0B92-4D7C-9F99-A93EEE781C96}"/>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99306047-7B74-4BDB-9AC0-148858C66D5A}"/>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Hybrid data flow">
            <a:extLst xmlns:a="http://schemas.openxmlformats.org/drawingml/2006/main">
              <a:ext uri="{FF2B5EF4-FFF2-40B4-BE49-F238E27FC236}">
                <a16:creationId xmlns:a16="http://schemas.microsoft.com/office/drawing/2014/main" id="{4E33B2EE-8366-4C4B-A065-0E55A0186D80}"/>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Hybrid data flow</a:t>
            </a:r>
          </a:p>
        </p:txBody>
      </p:sp>
      <p:sp>
        <p:nvSpPr>
          <p:cNvPr id="4" name="10 / 12">
            <a:extLst xmlns:a="http://schemas.openxmlformats.org/drawingml/2006/main">
              <a:ext uri="{FF2B5EF4-FFF2-40B4-BE49-F238E27FC236}">
                <a16:creationId xmlns:a16="http://schemas.microsoft.com/office/drawing/2014/main" id="{F35B8AB9-621F-4485-A2C4-7E163E5B1E1A}"/>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10 / 12</a:t>
            </a:r>
          </a:p>
        </p:txBody>
      </p:sp>
      <p:sp>
        <p:nvSpPr>
          <p:cNvPr id="5" name="Validate in Oracle">
            <a:extLst xmlns:a="http://schemas.openxmlformats.org/drawingml/2006/main">
              <a:ext uri="{FF2B5EF4-FFF2-40B4-BE49-F238E27FC236}">
                <a16:creationId xmlns:a16="http://schemas.microsoft.com/office/drawing/2014/main" id="{807CB168-53D9-40A4-AB07-6BC10A721ACC}"/>
              </a:ext>
            </a:extLst>
          </p:cNvPr>
          <p:cNvSpPr>
            <a:spLocks xmlns:a="http://schemas.openxmlformats.org/drawingml/2006/main" noGrp="1"/>
          </p:cNvSpPr>
          <p:nvPr/>
        </p:nvSpPr>
        <p:spPr>
          <a:xfrm xmlns:a="http://schemas.openxmlformats.org/drawingml/2006/main">
            <a:off x="1047750" y="4171950"/>
            <a:ext cx="485775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3150">
                <a:solidFill>
                  <a:srgbClr val="131313"/>
                </a:solidFill>
                <a:latin typeface="Nunito"/>
                <a:ea typeface="Nunito"/>
                <a:cs typeface="Nunito"/>
              </a:defRPr>
            </a:pPr>
            <a:r>
              <a:rPr sz="3150" b="1">
                <a:solidFill>
                  <a:srgbClr val="131313"/>
                </a:solidFill>
                <a:latin typeface="Nunito"/>
                <a:ea typeface="Nunito"/>
                <a:cs typeface="Nunito"/>
              </a:rPr>
              <a:t>Validate in Oracle</a:t>
            </a:r>
          </a:p>
        </p:txBody>
      </p:sp>
      <p:sp>
        <p:nvSpPr>
          <p:cNvPr id="6" name="Write MongoDB">
            <a:extLst xmlns:a="http://schemas.openxmlformats.org/drawingml/2006/main">
              <a:ext uri="{FF2B5EF4-FFF2-40B4-BE49-F238E27FC236}">
                <a16:creationId xmlns:a16="http://schemas.microsoft.com/office/drawing/2014/main" id="{F9085536-D09C-40E4-88BC-8AAA6A380A88}"/>
              </a:ext>
            </a:extLst>
          </p:cNvPr>
          <p:cNvSpPr>
            <a:spLocks xmlns:a="http://schemas.openxmlformats.org/drawingml/2006/main" noGrp="1"/>
          </p:cNvSpPr>
          <p:nvPr/>
        </p:nvSpPr>
        <p:spPr>
          <a:xfrm xmlns:a="http://schemas.openxmlformats.org/drawingml/2006/main">
            <a:off x="7096125" y="4171950"/>
            <a:ext cx="485775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3150">
                <a:solidFill>
                  <a:srgbClr val="131313"/>
                </a:solidFill>
                <a:latin typeface="Nunito"/>
                <a:ea typeface="Nunito"/>
                <a:cs typeface="Nunito"/>
              </a:defRPr>
            </a:pPr>
            <a:r>
              <a:rPr sz="3150" b="1">
                <a:solidFill>
                  <a:srgbClr val="131313"/>
                </a:solidFill>
                <a:latin typeface="Nunito"/>
                <a:ea typeface="Nunito"/>
                <a:cs typeface="Nunito"/>
              </a:rPr>
              <a:t>Write MongoDB</a:t>
            </a:r>
          </a:p>
        </p:txBody>
      </p:sp>
      <p:sp>
        <p:nvSpPr>
          <p:cNvPr id="7" name="Commit Oracle">
            <a:extLst xmlns:a="http://schemas.openxmlformats.org/drawingml/2006/main">
              <a:ext uri="{FF2B5EF4-FFF2-40B4-BE49-F238E27FC236}">
                <a16:creationId xmlns:a16="http://schemas.microsoft.com/office/drawing/2014/main" id="{90C8645E-83DB-4821-8481-DEC6B82AF4E6}"/>
              </a:ext>
            </a:extLst>
          </p:cNvPr>
          <p:cNvSpPr>
            <a:spLocks xmlns:a="http://schemas.openxmlformats.org/drawingml/2006/main" noGrp="1"/>
          </p:cNvSpPr>
          <p:nvPr/>
        </p:nvSpPr>
        <p:spPr>
          <a:xfrm xmlns:a="http://schemas.openxmlformats.org/drawingml/2006/main">
            <a:off x="13144500" y="4171950"/>
            <a:ext cx="409575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B0B0B0"/>
            </a:solidFill>
          </a:ln>
        </p:spPr>
        <p:txBody>
          <a:bodyPr xmlns:a="http://schemas.openxmlformats.org/drawingml/2006/main" wrap="square" lIns="85725" tIns="85725" rIns="85725" bIns="85725" anchor="ctr">
            <a:noAutofit/>
          </a:bodyPr>
          <a:lstStyle xmlns:a="http://schemas.openxmlformats.org/drawingml/2006/main"/>
          <a:p xmlns:a="http://schemas.openxmlformats.org/drawingml/2006/main">
            <a:pPr algn="ctr">
              <a:buNone/>
              <a:defRPr sz="3150">
                <a:solidFill>
                  <a:srgbClr val="131313"/>
                </a:solidFill>
                <a:latin typeface="Nunito"/>
                <a:ea typeface="Nunito"/>
                <a:cs typeface="Nunito"/>
              </a:defRPr>
            </a:pPr>
            <a:r>
              <a:rPr sz="3150" b="1">
                <a:solidFill>
                  <a:srgbClr val="131313"/>
                </a:solidFill>
                <a:latin typeface="Nunito"/>
                <a:ea typeface="Nunito"/>
                <a:cs typeface="Nunito"/>
              </a:rPr>
              <a:t>Commit Oracle</a:t>
            </a:r>
          </a:p>
        </p:txBody>
      </p:sp>
      <p:cxnSp>
        <p:nvCxnSpPr>
          <p:cNvPr id="31"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5905500" y="4886325"/>
            <a:ext cx="1190625" cy="0"/>
          </a:xfrm>
          <a:prstGeom xmlns:a="http://schemas.openxmlformats.org/drawingml/2006/main" prst="straightConnector1">
            <a:avLst/>
          </a:prstGeom>
          <a:ln xmlns:a="http://schemas.openxmlformats.org/drawingml/2006/main" w="28575">
            <a:solidFill>
              <a:srgbClr val="FF3300"/>
            </a:solidFill>
            <a:tailEnd type="triangle" w="med" len="med"/>
          </a:ln>
        </p:spPr>
      </p:cxnSp>
      <p:cxnSp>
        <p:nvCxnSpPr>
          <p:cNvPr id="32"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11953875" y="4886325"/>
            <a:ext cx="1190625" cy="0"/>
          </a:xfrm>
          <a:prstGeom xmlns:a="http://schemas.openxmlformats.org/drawingml/2006/main" prst="straightConnector1">
            <a:avLst/>
          </a:prstGeom>
          <a:ln xmlns:a="http://schemas.openxmlformats.org/drawingml/2006/main" w="28575">
            <a:solidFill>
              <a:srgbClr val="FF3300"/>
            </a:solidFill>
            <a:tailEnd type="triangle" w="med" len="med"/>
          </a:ln>
        </p:spPr>
      </p:cxnSp>
      <p:sp>
        <p:nvSpPr>
          <p:cNvPr id="10" name="Shared IDs">
            <a:extLst xmlns:a="http://schemas.openxmlformats.org/drawingml/2006/main">
              <a:ext uri="{FF2B5EF4-FFF2-40B4-BE49-F238E27FC236}">
                <a16:creationId xmlns:a16="http://schemas.microsoft.com/office/drawing/2014/main" id="{2053B1AD-C86E-481E-AD07-8BCA341CFA2E}"/>
              </a:ext>
            </a:extLst>
          </p:cNvPr>
          <p:cNvSpPr>
            <a:spLocks xmlns:a="http://schemas.openxmlformats.org/drawingml/2006/main" noGrp="1"/>
          </p:cNvSpPr>
          <p:nvPr/>
        </p:nvSpPr>
        <p:spPr>
          <a:xfrm xmlns:a="http://schemas.openxmlformats.org/drawingml/2006/main">
            <a:off x="1047750" y="7258050"/>
            <a:ext cx="7572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FF3300"/>
                </a:solidFill>
                <a:latin typeface="Archivo"/>
                <a:ea typeface="Archivo"/>
                <a:cs typeface="Archivo"/>
              </a:defRPr>
            </a:pPr>
            <a:r>
              <a:rPr sz="3675" b="1">
                <a:solidFill>
                  <a:srgbClr val="FF3300"/>
                </a:solidFill>
                <a:latin typeface="Poppins"/>
                <a:ea typeface="Poppins"/>
                <a:cs typeface="Poppins"/>
              </a:rPr>
              <a:t>Shared IDs</a:t>
            </a:r>
          </a:p>
        </p:txBody>
      </p:sp>
      <p:sp>
        <p:nvSpPr>
          <p:cNvPr id="11" name="Link records and content">
            <a:extLst xmlns:a="http://schemas.openxmlformats.org/drawingml/2006/main">
              <a:ext uri="{FF2B5EF4-FFF2-40B4-BE49-F238E27FC236}">
                <a16:creationId xmlns:a16="http://schemas.microsoft.com/office/drawing/2014/main" id="{46212943-8702-4797-B75C-B41BD679D6AB}"/>
              </a:ext>
            </a:extLst>
          </p:cNvPr>
          <p:cNvSpPr>
            <a:spLocks xmlns:a="http://schemas.openxmlformats.org/drawingml/2006/main" noGrp="1"/>
          </p:cNvSpPr>
          <p:nvPr/>
        </p:nvSpPr>
        <p:spPr>
          <a:xfrm xmlns:a="http://schemas.openxmlformats.org/drawingml/2006/main">
            <a:off x="1047750" y="8143875"/>
            <a:ext cx="7572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0">
                <a:solidFill>
                  <a:srgbClr val="131313"/>
                </a:solidFill>
                <a:latin typeface="Nunito"/>
                <a:ea typeface="Nunito"/>
                <a:cs typeface="Nunito"/>
              </a:defRPr>
            </a:pPr>
            <a:r>
              <a:rPr sz="2925" b="0">
                <a:solidFill>
                  <a:srgbClr val="131313"/>
                </a:solidFill>
                <a:latin typeface="Nunito"/>
                <a:ea typeface="Nunito"/>
                <a:cs typeface="Nunito"/>
              </a:rPr>
              <a:t>Link records and content</a:t>
            </a:r>
          </a:p>
        </p:txBody>
      </p:sp>
      <p:sp>
        <p:nvSpPr>
          <p:cNvPr id="12" name="Rollback + cleanup">
            <a:extLst xmlns:a="http://schemas.openxmlformats.org/drawingml/2006/main">
              <a:ext uri="{FF2B5EF4-FFF2-40B4-BE49-F238E27FC236}">
                <a16:creationId xmlns:a16="http://schemas.microsoft.com/office/drawing/2014/main" id="{7871C983-8E6E-4192-ADD9-7FCD442F7B94}"/>
              </a:ext>
            </a:extLst>
          </p:cNvPr>
          <p:cNvSpPr>
            <a:spLocks xmlns:a="http://schemas.openxmlformats.org/drawingml/2006/main" noGrp="1"/>
          </p:cNvSpPr>
          <p:nvPr/>
        </p:nvSpPr>
        <p:spPr>
          <a:xfrm xmlns:a="http://schemas.openxmlformats.org/drawingml/2006/main">
            <a:off x="10096500" y="7258050"/>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50" b="1">
                <a:solidFill>
                  <a:srgbClr val="FF3300"/>
                </a:solidFill>
                <a:latin typeface="Archivo"/>
                <a:ea typeface="Archivo"/>
                <a:cs typeface="Archivo"/>
              </a:defRPr>
            </a:pPr>
            <a:r>
              <a:rPr sz="3450" b="1">
                <a:solidFill>
                  <a:srgbClr val="FF3300"/>
                </a:solidFill>
                <a:latin typeface="Poppins"/>
                <a:ea typeface="Poppins"/>
                <a:cs typeface="Poppins"/>
              </a:rPr>
              <a:t>Rollback + cleanup</a:t>
            </a:r>
          </a:p>
        </p:txBody>
      </p:sp>
      <p:sp>
        <p:nvSpPr>
          <p:cNvPr id="13" name="The API attempts cleanup on failure">
            <a:extLst xmlns:a="http://schemas.openxmlformats.org/drawingml/2006/main">
              <a:ext uri="{FF2B5EF4-FFF2-40B4-BE49-F238E27FC236}">
                <a16:creationId xmlns:a16="http://schemas.microsoft.com/office/drawing/2014/main" id="{B9F227AB-D1EE-466E-BA43-0E96CD2803AB}"/>
              </a:ext>
            </a:extLst>
          </p:cNvPr>
          <p:cNvSpPr>
            <a:spLocks xmlns:a="http://schemas.openxmlformats.org/drawingml/2006/main" noGrp="1"/>
          </p:cNvSpPr>
          <p:nvPr/>
        </p:nvSpPr>
        <p:spPr>
          <a:xfrm xmlns:a="http://schemas.openxmlformats.org/drawingml/2006/main">
            <a:off x="10096500" y="8143875"/>
            <a:ext cx="714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131313"/>
                </a:solidFill>
                <a:latin typeface="Nunito"/>
                <a:ea typeface="Nunito"/>
                <a:cs typeface="Nunito"/>
              </a:defRPr>
            </a:pPr>
            <a:r>
              <a:rPr sz="2850" b="0">
                <a:solidFill>
                  <a:srgbClr val="131313"/>
                </a:solidFill>
                <a:latin typeface="Nunito"/>
                <a:ea typeface="Nunito"/>
                <a:cs typeface="Nunito"/>
              </a:rPr>
              <a:t>The API attempts cleanup on failure</a:t>
            </a:r>
          </a:p>
        </p:txBody>
      </p:sp>
      <p:sp>
        <p:nvSpPr>
          <p:cNvPr id="14" name="Queries: route reviews, rating averages, keywords ">
            <a:extLst xmlns:a="http://schemas.openxmlformats.org/drawingml/2006/main">
              <a:ext uri="{FF2B5EF4-FFF2-40B4-BE49-F238E27FC236}">
                <a16:creationId xmlns:a16="http://schemas.microsoft.com/office/drawing/2014/main" id="{E800AF65-817A-495E-A41A-8B61BA306D40}"/>
              </a:ext>
            </a:extLst>
          </p:cNvPr>
          <p:cNvSpPr>
            <a:spLocks xmlns:a="http://schemas.openxmlformats.org/drawingml/2006/main" noGrp="1"/>
          </p:cNvSpPr>
          <p:nvPr/>
        </p:nvSpPr>
        <p:spPr>
          <a:xfrm xmlns:a="http://schemas.openxmlformats.org/drawingml/2006/main">
            <a:off x="1047750" y="9248775"/>
            <a:ext cx="1571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4E4E4E"/>
                </a:solidFill>
                <a:latin typeface="Nunito"/>
                <a:ea typeface="Nunito"/>
                <a:cs typeface="Nunito"/>
              </a:defRPr>
            </a:pPr>
            <a:r>
              <a:rPr sz="2400" b="0">
                <a:solidFill>
                  <a:srgbClr val="4E4E4E"/>
                </a:solidFill>
                <a:latin typeface="Nunito"/>
                <a:ea typeface="Nunito"/>
                <a:cs typeface="Nunito"/>
              </a:rPr>
              <a:t>Queries: route reviews, rating averages, keywords and media</a:t>
            </a:r>
          </a:p>
        </p:txBody>
      </p:sp>
    </p:spTree>
    <p:extLst>
      <p:ext uri="{BB962C8B-B14F-4D97-AF65-F5344CB8AC3E}">
        <p14:creationId xmlns:p14="http://schemas.microsoft.com/office/powerpoint/2010/main" val="6687200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MARTMOVE  DATA MANAGEMENT 2">
            <a:extLst xmlns:a="http://schemas.openxmlformats.org/drawingml/2006/main">
              <a:ext uri="{FF2B5EF4-FFF2-40B4-BE49-F238E27FC236}">
                <a16:creationId xmlns:a16="http://schemas.microsoft.com/office/drawing/2014/main" id="{272B8E24-8FC8-4B7A-B520-0DB7D5093E60}"/>
              </a:ext>
            </a:extLst>
          </p:cNvPr>
          <p:cNvSpPr>
            <a:spLocks xmlns:a="http://schemas.openxmlformats.org/drawingml/2006/main" noGrp="1"/>
          </p:cNvSpPr>
          <p:nvPr/>
        </p:nvSpPr>
        <p:spPr>
          <a:xfrm xmlns:a="http://schemas.openxmlformats.org/drawingml/2006/main">
            <a:off x="1047750" y="962025"/>
            <a:ext cx="1476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31313"/>
                </a:solidFill>
                <a:latin typeface="Archivo"/>
                <a:ea typeface="Archivo"/>
                <a:cs typeface="Archivo"/>
              </a:defRPr>
            </a:pPr>
            <a:r>
              <a:rPr sz="2100" b="1">
                <a:solidFill>
                  <a:srgbClr val="131313"/>
                </a:solidFill>
                <a:latin typeface="Archivo"/>
                <a:ea typeface="Archivo"/>
                <a:cs typeface="Archivo"/>
              </a:rPr>
              <a:t>SMARTMOVE  DATA MANAGEMENT 2</a:t>
            </a:r>
          </a:p>
        </p:txBody>
      </p:sp>
      <p:sp>
        <p:nvSpPr>
          <p:cNvPr id="2" name="Theme rule">
            <a:extLst xmlns:a="http://schemas.openxmlformats.org/drawingml/2006/main">
              <a:ext uri="{FF2B5EF4-FFF2-40B4-BE49-F238E27FC236}">
                <a16:creationId xmlns:a16="http://schemas.microsoft.com/office/drawing/2014/main" id="{90B91F41-D8DB-45BC-952A-247826E51644}"/>
              </a:ext>
            </a:extLst>
          </p:cNvPr>
          <p:cNvSpPr>
            <a:spLocks xmlns:a="http://schemas.openxmlformats.org/drawingml/2006/main" noGrp="1"/>
          </p:cNvSpPr>
          <p:nvPr/>
        </p:nvSpPr>
        <p:spPr>
          <a:xfrm xmlns:a="http://schemas.openxmlformats.org/drawingml/2006/main">
            <a:off x="1047750" y="1504950"/>
            <a:ext cx="16192500" cy="0"/>
          </a:xfrm>
          <a:prstGeom xmlns:a="http://schemas.openxmlformats.org/drawingml/2006/main" prst="line">
            <a:avLst/>
          </a:prstGeom>
          <a:noFill xmlns:a="http://schemas.openxmlformats.org/drawingml/2006/main"/>
          <a:ln xmlns:a="http://schemas.openxmlformats.org/drawingml/2006/main" w="28575">
            <a:solidFill>
              <a:srgbClr val="131313"/>
            </a:solidFill>
          </a:ln>
        </p:spPr>
        <p:txBody>
          <a:bodyPr xmlns:a="http://schemas.openxmlformats.org/drawingml/2006/main"/>
          <a:lstStyle xmlns:a="http://schemas.openxmlformats.org/drawingml/2006/main"/>
          <a:p xmlns:a="http://schemas.openxmlformats.org/drawingml/2006/main">
            <a:endParaRPr/>
          </a:p>
        </p:txBody>
      </p:sp>
      <p:sp>
        <p:nvSpPr>
          <p:cNvPr id="3" name="Security and recovery">
            <a:extLst xmlns:a="http://schemas.openxmlformats.org/drawingml/2006/main">
              <a:ext uri="{FF2B5EF4-FFF2-40B4-BE49-F238E27FC236}">
                <a16:creationId xmlns:a16="http://schemas.microsoft.com/office/drawing/2014/main" id="{80207D45-9C9E-41A9-A120-539BA4BADDA8}"/>
              </a:ext>
            </a:extLst>
          </p:cNvPr>
          <p:cNvSpPr>
            <a:spLocks xmlns:a="http://schemas.openxmlformats.org/drawingml/2006/main" noGrp="1"/>
          </p:cNvSpPr>
          <p:nvPr/>
        </p:nvSpPr>
        <p:spPr>
          <a:xfrm xmlns:a="http://schemas.openxmlformats.org/drawingml/2006/main">
            <a:off x="1047750" y="2076450"/>
            <a:ext cx="1614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131313"/>
                </a:solidFill>
                <a:latin typeface="Archivo"/>
                <a:ea typeface="Archivo"/>
                <a:cs typeface="Archivo"/>
              </a:defRPr>
            </a:pPr>
            <a:r>
              <a:rPr sz="5850" b="1">
                <a:solidFill>
                  <a:srgbClr val="131313"/>
                </a:solidFill>
                <a:latin typeface="Poppins"/>
                <a:ea typeface="Poppins"/>
                <a:cs typeface="Poppins"/>
              </a:rPr>
              <a:t>Security and recovery</a:t>
            </a:r>
          </a:p>
        </p:txBody>
      </p:sp>
      <p:sp>
        <p:nvSpPr>
          <p:cNvPr id="4" name="11 / 12">
            <a:extLst xmlns:a="http://schemas.openxmlformats.org/drawingml/2006/main">
              <a:ext uri="{FF2B5EF4-FFF2-40B4-BE49-F238E27FC236}">
                <a16:creationId xmlns:a16="http://schemas.microsoft.com/office/drawing/2014/main" id="{A4C84823-D34C-4225-BEA3-AA9A3CA12107}"/>
              </a:ext>
            </a:extLst>
          </p:cNvPr>
          <p:cNvSpPr>
            <a:spLocks xmlns:a="http://schemas.openxmlformats.org/drawingml/2006/main" noGrp="1"/>
          </p:cNvSpPr>
          <p:nvPr/>
        </p:nvSpPr>
        <p:spPr>
          <a:xfrm xmlns:a="http://schemas.openxmlformats.org/drawingml/2006/main">
            <a:off x="16554450" y="97440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875" b="0">
                <a:solidFill>
                  <a:srgbClr val="4E4E4E"/>
                </a:solidFill>
                <a:latin typeface="Archivo"/>
                <a:ea typeface="Archivo"/>
                <a:cs typeface="Archivo"/>
              </a:defRPr>
            </a:pPr>
            <a:r>
              <a:rPr sz="1875" b="0">
                <a:solidFill>
                  <a:srgbClr val="4E4E4E"/>
                </a:solidFill>
                <a:latin typeface="Archivo"/>
                <a:ea typeface="Archivo"/>
                <a:cs typeface="Archivo"/>
              </a:rPr>
              <a:t>11 / 12</a:t>
            </a:r>
          </a:p>
        </p:txBody>
      </p:sp>
      <p:sp>
        <p:nvSpPr>
          <p:cNvPr id="5" name="01">
            <a:extLst xmlns:a="http://schemas.openxmlformats.org/drawingml/2006/main">
              <a:ext uri="{FF2B5EF4-FFF2-40B4-BE49-F238E27FC236}">
                <a16:creationId xmlns:a16="http://schemas.microsoft.com/office/drawing/2014/main" id="{94A17E39-F447-4137-94A6-CC3DA4E5B649}"/>
              </a:ext>
            </a:extLst>
          </p:cNvPr>
          <p:cNvSpPr>
            <a:spLocks xmlns:a="http://schemas.openxmlformats.org/drawingml/2006/main" noGrp="1"/>
          </p:cNvSpPr>
          <p:nvPr/>
        </p:nvSpPr>
        <p:spPr>
          <a:xfrm xmlns:a="http://schemas.openxmlformats.org/drawingml/2006/main">
            <a:off x="1047750"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01</a:t>
            </a:r>
          </a:p>
        </p:txBody>
      </p:sp>
      <p:sp>
        <p:nvSpPr>
          <p:cNvPr id="6" name="Passwords + sessions">
            <a:extLst xmlns:a="http://schemas.openxmlformats.org/drawingml/2006/main">
              <a:ext uri="{FF2B5EF4-FFF2-40B4-BE49-F238E27FC236}">
                <a16:creationId xmlns:a16="http://schemas.microsoft.com/office/drawing/2014/main" id="{B6CB56BE-1F79-4735-928C-5C1C2CB1E473}"/>
              </a:ext>
            </a:extLst>
          </p:cNvPr>
          <p:cNvSpPr>
            <a:spLocks xmlns:a="http://schemas.openxmlformats.org/drawingml/2006/main" noGrp="1"/>
          </p:cNvSpPr>
          <p:nvPr/>
        </p:nvSpPr>
        <p:spPr>
          <a:xfrm xmlns:a="http://schemas.openxmlformats.org/drawingml/2006/main">
            <a:off x="1047750"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Passwords + sessions</a:t>
            </a:r>
          </a:p>
        </p:txBody>
      </p:sp>
      <p:sp>
        <p:nvSpPr>
          <p:cNvPr id="7" name="Salted hashes&#10;Server-side sessions">
            <a:extLst xmlns:a="http://schemas.openxmlformats.org/drawingml/2006/main">
              <a:ext uri="{FF2B5EF4-FFF2-40B4-BE49-F238E27FC236}">
                <a16:creationId xmlns:a16="http://schemas.microsoft.com/office/drawing/2014/main" id="{8F19E6B6-82BC-442E-A48E-0897076720D0}"/>
              </a:ext>
            </a:extLst>
          </p:cNvPr>
          <p:cNvSpPr>
            <a:spLocks xmlns:a="http://schemas.openxmlformats.org/drawingml/2006/main" noGrp="1"/>
          </p:cNvSpPr>
          <p:nvPr/>
        </p:nvSpPr>
        <p:spPr>
          <a:xfrm xmlns:a="http://schemas.openxmlformats.org/drawingml/2006/main">
            <a:off x="1047750"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Salted hashes</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Server-side sessions</a:t>
            </a:r>
          </a:p>
        </p:txBody>
      </p:sp>
      <p:sp>
        <p:nvSpPr>
          <p:cNvPr id="8" name="02">
            <a:extLst xmlns:a="http://schemas.openxmlformats.org/drawingml/2006/main">
              <a:ext uri="{FF2B5EF4-FFF2-40B4-BE49-F238E27FC236}">
                <a16:creationId xmlns:a16="http://schemas.microsoft.com/office/drawing/2014/main" id="{5EE2AB50-19FB-4985-9714-36538708094A}"/>
              </a:ext>
            </a:extLst>
          </p:cNvPr>
          <p:cNvSpPr>
            <a:spLocks xmlns:a="http://schemas.openxmlformats.org/drawingml/2006/main" noGrp="1"/>
          </p:cNvSpPr>
          <p:nvPr/>
        </p:nvSpPr>
        <p:spPr>
          <a:xfrm xmlns:a="http://schemas.openxmlformats.org/drawingml/2006/main">
            <a:off x="6715125"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02</a:t>
            </a:r>
          </a:p>
        </p:txBody>
      </p:sp>
      <p:sp>
        <p:nvSpPr>
          <p:cNvPr id="9" name="Access checks">
            <a:extLst xmlns:a="http://schemas.openxmlformats.org/drawingml/2006/main">
              <a:ext uri="{FF2B5EF4-FFF2-40B4-BE49-F238E27FC236}">
                <a16:creationId xmlns:a16="http://schemas.microsoft.com/office/drawing/2014/main" id="{4EA3225A-E351-465F-ADCC-3549A954ABE8}"/>
              </a:ext>
            </a:extLst>
          </p:cNvPr>
          <p:cNvSpPr>
            <a:spLocks xmlns:a="http://schemas.openxmlformats.org/drawingml/2006/main" noGrp="1"/>
          </p:cNvSpPr>
          <p:nvPr/>
        </p:nvSpPr>
        <p:spPr>
          <a:xfrm xmlns:a="http://schemas.openxmlformats.org/drawingml/2006/main">
            <a:off x="6715125"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Access checks</a:t>
            </a:r>
          </a:p>
        </p:txBody>
      </p:sp>
      <p:sp>
        <p:nvSpPr>
          <p:cNvPr id="10" name="ADMIN permissions&#10;Passenger ownership">
            <a:extLst xmlns:a="http://schemas.openxmlformats.org/drawingml/2006/main">
              <a:ext uri="{FF2B5EF4-FFF2-40B4-BE49-F238E27FC236}">
                <a16:creationId xmlns:a16="http://schemas.microsoft.com/office/drawing/2014/main" id="{E4F9697D-1C2A-4E44-A52A-00DE535773C8}"/>
              </a:ext>
            </a:extLst>
          </p:cNvPr>
          <p:cNvSpPr>
            <a:spLocks xmlns:a="http://schemas.openxmlformats.org/drawingml/2006/main" noGrp="1"/>
          </p:cNvSpPr>
          <p:nvPr/>
        </p:nvSpPr>
        <p:spPr>
          <a:xfrm xmlns:a="http://schemas.openxmlformats.org/drawingml/2006/main">
            <a:off x="6715125"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ADMIN permissions</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Passenger ownership</a:t>
            </a:r>
          </a:p>
        </p:txBody>
      </p:sp>
      <p:sp>
        <p:nvSpPr>
          <p:cNvPr id="11" name="03">
            <a:extLst xmlns:a="http://schemas.openxmlformats.org/drawingml/2006/main">
              <a:ext uri="{FF2B5EF4-FFF2-40B4-BE49-F238E27FC236}">
                <a16:creationId xmlns:a16="http://schemas.microsoft.com/office/drawing/2014/main" id="{C017CD9C-EB66-4CA0-AC03-DD151024F209}"/>
              </a:ext>
            </a:extLst>
          </p:cNvPr>
          <p:cNvSpPr>
            <a:spLocks xmlns:a="http://schemas.openxmlformats.org/drawingml/2006/main" noGrp="1"/>
          </p:cNvSpPr>
          <p:nvPr/>
        </p:nvSpPr>
        <p:spPr>
          <a:xfrm xmlns:a="http://schemas.openxmlformats.org/drawingml/2006/main">
            <a:off x="12382500" y="37147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550" b="1">
                <a:solidFill>
                  <a:srgbClr val="FF3300"/>
                </a:solidFill>
                <a:latin typeface="Archivo"/>
                <a:ea typeface="Archivo"/>
                <a:cs typeface="Archivo"/>
              </a:defRPr>
            </a:pPr>
            <a:r>
              <a:rPr sz="5550" b="1">
                <a:solidFill>
                  <a:srgbClr val="FF3300"/>
                </a:solidFill>
                <a:latin typeface="Archivo"/>
                <a:ea typeface="Archivo"/>
                <a:cs typeface="Archivo"/>
              </a:rPr>
              <a:t>03</a:t>
            </a:r>
          </a:p>
        </p:txBody>
      </p:sp>
      <p:sp>
        <p:nvSpPr>
          <p:cNvPr id="12" name="Recovery">
            <a:extLst xmlns:a="http://schemas.openxmlformats.org/drawingml/2006/main">
              <a:ext uri="{FF2B5EF4-FFF2-40B4-BE49-F238E27FC236}">
                <a16:creationId xmlns:a16="http://schemas.microsoft.com/office/drawing/2014/main" id="{C187AF89-3F2B-42B1-A0FC-5C655177BFC2}"/>
              </a:ext>
            </a:extLst>
          </p:cNvPr>
          <p:cNvSpPr>
            <a:spLocks xmlns:a="http://schemas.openxmlformats.org/drawingml/2006/main" noGrp="1"/>
          </p:cNvSpPr>
          <p:nvPr/>
        </p:nvSpPr>
        <p:spPr>
          <a:xfrm xmlns:a="http://schemas.openxmlformats.org/drawingml/2006/main">
            <a:off x="12382500" y="487680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131313"/>
                </a:solidFill>
                <a:latin typeface="Archivo"/>
                <a:ea typeface="Archivo"/>
                <a:cs typeface="Archivo"/>
              </a:defRPr>
            </a:pPr>
            <a:r>
              <a:rPr sz="3225" b="1">
                <a:solidFill>
                  <a:srgbClr val="131313"/>
                </a:solidFill>
                <a:latin typeface="Poppins"/>
                <a:ea typeface="Poppins"/>
                <a:cs typeface="Poppins"/>
              </a:rPr>
              <a:t>Recovery</a:t>
            </a:r>
          </a:p>
        </p:txBody>
      </p:sp>
      <p:sp>
        <p:nvSpPr>
          <p:cNvPr id="13" name="Source archives retained&#10;Live-data restore testing">
            <a:extLst xmlns:a="http://schemas.openxmlformats.org/drawingml/2006/main">
              <a:ext uri="{FF2B5EF4-FFF2-40B4-BE49-F238E27FC236}">
                <a16:creationId xmlns:a16="http://schemas.microsoft.com/office/drawing/2014/main" id="{CB057DDF-A1A8-41E4-8FD1-B1446194711B}"/>
              </a:ext>
            </a:extLst>
          </p:cNvPr>
          <p:cNvSpPr>
            <a:spLocks xmlns:a="http://schemas.openxmlformats.org/drawingml/2006/main" noGrp="1"/>
          </p:cNvSpPr>
          <p:nvPr/>
        </p:nvSpPr>
        <p:spPr>
          <a:xfrm xmlns:a="http://schemas.openxmlformats.org/drawingml/2006/main">
            <a:off x="12382500" y="633412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Source + data snapshots</a:t>
            </a:r>
          </a:p>
          <a:p xmlns:a="http://schemas.openxmlformats.org/drawingml/2006/main">
            <a:pPr algn="l">
              <a:buNone/>
              <a:defRPr sz="2850" b="0">
                <a:solidFill>
                  <a:srgbClr val="4E4E4E"/>
                </a:solidFill>
                <a:latin typeface="Nunito"/>
                <a:ea typeface="Nunito"/>
                <a:cs typeface="Nunito"/>
              </a:defRPr>
            </a:pPr>
            <a:r>
              <a:rPr sz="2850" b="0">
                <a:solidFill>
                  <a:srgbClr val="4E4E4E"/>
                </a:solidFill>
                <a:latin typeface="Nunito"/>
                <a:ea typeface="Nunito"/>
                <a:cs typeface="Nunito"/>
              </a:rPr>
              <a:t>Restore test pending</a:t>
            </a:r>
          </a:p>
        </p:txBody>
      </p:sp>
    </p:spTree>
    <p:extLst>
      <p:ext uri="{BB962C8B-B14F-4D97-AF65-F5344CB8AC3E}">
        <p14:creationId xmlns:p14="http://schemas.microsoft.com/office/powerpoint/2010/main" val="210065844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Security and recovery">
            <a:extLst xmlns:a="http://schemas.openxmlformats.org/drawingml/2006/main">
              <a:ext uri="{FF2B5EF4-FFF2-40B4-BE49-F238E27FC236}">
                <a16:creationId xmlns:a16="http://schemas.microsoft.com/office/drawing/2014/main" id="{F03F3113-A360-E309-E632-D3284C29C99A}"/>
              </a:ext>
            </a:extLst>
          </p:cNvPr>
          <p:cNvSpPr>
            <a:spLocks xmlns:a="http://schemas.openxmlformats.org/drawingml/2006/main" noGrp="1"/>
          </p:cNvSpPr>
          <p:nvPr/>
        </p:nvSpPr>
        <p:spPr>
          <a:xfrm xmlns:a="http://schemas.openxmlformats.org/drawingml/2006/main">
            <a:off x="1071562" y="3819985"/>
            <a:ext cx="16144875" cy="26470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5850" b="1">
                <a:solidFill>
                  <a:srgbClr val="131313"/>
                </a:solidFill>
                <a:latin typeface="Archivo"/>
                <a:ea typeface="Archivo"/>
                <a:cs typeface="Archivo"/>
              </a:defRPr>
            </a:pPr>
            <a:r>
              <a:rPr sz="16600" b="1">
                <a:solidFill>
                  <a:srgbClr val="131313"/>
                </a:solidFill>
                <a:latin typeface="Poppins"/>
                <a:ea typeface="Poppins"/>
                <a:cs typeface="Poppins"/>
              </a:rPr>
              <a:t>Thank You</a:t>
            </a:r>
            <a:endParaRPr sz="16600" b="1">
              <a:solidFill>
                <a:srgbClr val="131313"/>
              </a:solidFill>
              <a:latin typeface="Poppins"/>
              <a:ea typeface="Poppins"/>
              <a:cs typeface="Poppins"/>
            </a:endParaRPr>
          </a:p>
        </p:txBody>
      </p:sp>
    </p:spTree>
    <p:extLst>
      <p:ext uri="{BB962C8B-B14F-4D97-AF65-F5344CB8AC3E}">
        <p14:creationId xmlns:p14="http://schemas.microsoft.com/office/powerpoint/2010/main" val="26288644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2026-10-07T16:35:48.3730000Z</dcterms:created>
  <dcterms:modified xsi:type="dcterms:W3CDTF">2026-10-07T16:35:48.3730000Z</dcterms:modified>
</coreProperties>
</file>